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2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1db096509e413d" /><Relationship Type="http://schemas.openxmlformats.org/officeDocument/2006/relationships/extended-properties" Target="/docProps/app.xml" Id="R1cadf45eacb44f18" /><Relationship Type="http://schemas.openxmlformats.org/officeDocument/2006/relationships/officeDocument" Target="/ppt/presentation.xml" Id="R399d8595a48441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5cc077ed8f4f61"/>
  </p:sldMasterIdLst>
  <p:notesMasterIdLst>
    <p:notesMasterId xmlns:r="http://schemas.openxmlformats.org/officeDocument/2006/relationships" r:id="Ra4a9663852814fcd"/>
  </p:notesMasterIdLst>
  <p:sldIdLst>
    <p:sldId xmlns:r="http://schemas.openxmlformats.org/officeDocument/2006/relationships" id="256" r:id="Rc7bc66833d2145e5"/>
    <p:sldId xmlns:r="http://schemas.openxmlformats.org/officeDocument/2006/relationships" id="257" r:id="R01cb5f9f106c4798"/>
    <p:sldId xmlns:r="http://schemas.openxmlformats.org/officeDocument/2006/relationships" id="258" r:id="R234305a44c7f476a"/>
    <p:sldId xmlns:r="http://schemas.openxmlformats.org/officeDocument/2006/relationships" id="259" r:id="Ra45cf1926d7b4de2"/>
    <p:sldId xmlns:r="http://schemas.openxmlformats.org/officeDocument/2006/relationships" id="260" r:id="R01d6d9643f0243a9"/>
    <p:sldId xmlns:r="http://schemas.openxmlformats.org/officeDocument/2006/relationships" id="261" r:id="R6802a91235074121"/>
    <p:sldId xmlns:r="http://schemas.openxmlformats.org/officeDocument/2006/relationships" id="262" r:id="Ra4ba08c6c9134a69"/>
    <p:sldId xmlns:r="http://schemas.openxmlformats.org/officeDocument/2006/relationships" id="263" r:id="Rf19781f4be744c1a"/>
    <p:sldId xmlns:r="http://schemas.openxmlformats.org/officeDocument/2006/relationships" id="264" r:id="R9e733b195fa34f05"/>
    <p:sldId xmlns:r="http://schemas.openxmlformats.org/officeDocument/2006/relationships" id="265" r:id="R6c45086aac564341"/>
    <p:sldId xmlns:r="http://schemas.openxmlformats.org/officeDocument/2006/relationships" id="266" r:id="R00e77fe14d814783"/>
    <p:sldId xmlns:r="http://schemas.openxmlformats.org/officeDocument/2006/relationships" id="267" r:id="Rdb88db514d504382"/>
    <p:sldId xmlns:r="http://schemas.openxmlformats.org/officeDocument/2006/relationships" id="268" r:id="Ra4ad2dc20e1a449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dd5f53fe874715" /><Relationship Type="http://schemas.openxmlformats.org/officeDocument/2006/relationships/slideMaster" Target="/ppt/slideMasters/slideMaster1.xml" Id="R335cc077ed8f4f61" /><Relationship Type="http://schemas.openxmlformats.org/officeDocument/2006/relationships/notesMaster" Target="/ppt/notesMasters/notesMaster1.xml" Id="Ra4a9663852814fcd" /><Relationship Type="http://schemas.openxmlformats.org/officeDocument/2006/relationships/presProps" Target="/ppt/presProps.xml" Id="Rde041c75dff2417d" /><Relationship Type="http://schemas.openxmlformats.org/officeDocument/2006/relationships/tableStyles" Target="/ppt/tableStyles.xml" Id="Ra6ba41cb5f2044f4" /><Relationship Type="http://schemas.openxmlformats.org/officeDocument/2006/relationships/slide" Target="/ppt/slides/slide1.xml" Id="Rc7bc66833d2145e5" /><Relationship Type="http://schemas.openxmlformats.org/officeDocument/2006/relationships/slide" Target="/ppt/slides/slide2.xml" Id="R01cb5f9f106c4798" /><Relationship Type="http://schemas.openxmlformats.org/officeDocument/2006/relationships/slide" Target="/ppt/slides/slide3.xml" Id="R234305a44c7f476a" /><Relationship Type="http://schemas.openxmlformats.org/officeDocument/2006/relationships/slide" Target="/ppt/slides/slide4.xml" Id="Ra45cf1926d7b4de2" /><Relationship Type="http://schemas.openxmlformats.org/officeDocument/2006/relationships/slide" Target="/ppt/slides/slide5.xml" Id="R01d6d9643f0243a9" /><Relationship Type="http://schemas.openxmlformats.org/officeDocument/2006/relationships/slide" Target="/ppt/slides/slide6.xml" Id="R6802a91235074121" /><Relationship Type="http://schemas.openxmlformats.org/officeDocument/2006/relationships/slide" Target="/ppt/slides/slide7.xml" Id="Ra4ba08c6c9134a69" /><Relationship Type="http://schemas.openxmlformats.org/officeDocument/2006/relationships/slide" Target="/ppt/slides/slide8.xml" Id="Rf19781f4be744c1a" /><Relationship Type="http://schemas.openxmlformats.org/officeDocument/2006/relationships/slide" Target="/ppt/slides/slide9.xml" Id="R9e733b195fa34f05" /><Relationship Type="http://schemas.openxmlformats.org/officeDocument/2006/relationships/slide" Target="/ppt/slides/slide10.xml" Id="R6c45086aac564341" /><Relationship Type="http://schemas.openxmlformats.org/officeDocument/2006/relationships/slide" Target="/ppt/slides/slide11.xml" Id="R00e77fe14d814783" /><Relationship Type="http://schemas.openxmlformats.org/officeDocument/2006/relationships/slide" Target="/ppt/slides/slide12.xml" Id="Rdb88db514d504382" /><Relationship Type="http://schemas.openxmlformats.org/officeDocument/2006/relationships/slide" Target="/ppt/slides/slide13.xml" Id="Ra4ad2dc20e1a44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0d82308c014b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1d02861dbb4cbe" /><Relationship Type="http://schemas.openxmlformats.org/officeDocument/2006/relationships/notesMaster" Target="/ppt/notesMasters/notesMaster1.xml" Id="R8c3ee405d09842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eec363fe444f0a" /><Relationship Type="http://schemas.openxmlformats.org/officeDocument/2006/relationships/notesMaster" Target="/ppt/notesMasters/notesMaster1.xml" Id="Rf855b21adbc54e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909f7417bc4fef" /><Relationship Type="http://schemas.openxmlformats.org/officeDocument/2006/relationships/notesMaster" Target="/ppt/notesMasters/notesMaster1.xml" Id="Re6d2157ed19741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b08e05313d543df" /><Relationship Type="http://schemas.openxmlformats.org/officeDocument/2006/relationships/notesMaster" Target="/ppt/notesMasters/notesMaster1.xml" Id="R6582f1579cd149b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a8550d5bb74769" /><Relationship Type="http://schemas.openxmlformats.org/officeDocument/2006/relationships/notesMaster" Target="/ppt/notesMasters/notesMaster1.xml" Id="Rce9d9a4854be48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ff0c00ac6544e5" /><Relationship Type="http://schemas.openxmlformats.org/officeDocument/2006/relationships/notesMaster" Target="/ppt/notesMasters/notesMaster1.xml" Id="R193abf900109405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c473b7500d4be4" /><Relationship Type="http://schemas.openxmlformats.org/officeDocument/2006/relationships/notesMaster" Target="/ppt/notesMasters/notesMaster1.xml" Id="R2529cb67995348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2d07befbc41449a" /><Relationship Type="http://schemas.openxmlformats.org/officeDocument/2006/relationships/notesMaster" Target="/ppt/notesMasters/notesMaster1.xml" Id="R83c5b866ef7b48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316ed079bf44859" /><Relationship Type="http://schemas.openxmlformats.org/officeDocument/2006/relationships/notesMaster" Target="/ppt/notesMasters/notesMaster1.xml" Id="Rfb2a1d13328c49e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e715aa849e14c0b" /><Relationship Type="http://schemas.openxmlformats.org/officeDocument/2006/relationships/notesMaster" Target="/ppt/notesMasters/notesMaster1.xml" Id="R18792fd646b44cf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714821bb37847e9" /><Relationship Type="http://schemas.openxmlformats.org/officeDocument/2006/relationships/notesMaster" Target="/ppt/notesMasters/notesMaster1.xml" Id="R30400570e86c448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a5d835b1e524dfc" /><Relationship Type="http://schemas.openxmlformats.org/officeDocument/2006/relationships/notesMaster" Target="/ppt/notesMasters/notesMaster1.xml" Id="R78ffc773c5884e3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89d113c0f1f481f" /><Relationship Type="http://schemas.openxmlformats.org/officeDocument/2006/relationships/notesMaster" Target="/ppt/notesMasters/notesMaster1.xml" Id="Ra4bdbd9a99324f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OpenStudio logo and product thesis supplied by the project repository.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https://www.steinberg.net/cubase/compare-editions/</a:t>
            </a:r>
          </a:p>
          <a:p xmlns:a="http://schemas.openxmlformats.org/drawingml/2006/main">
            <a:r>
              <a:t>- https://kb.avid.com/pkb/articles/en_US/Knowledge/Pro-Tools-Intro-FAQ</a:t>
            </a:r>
          </a:p>
          <a:p xmlns:a="http://schemas.openxmlformats.org/drawingml/2006/main">
            <a:r>
              <a:t>- https://suno.com/pricing</a:t>
            </a:r>
          </a:p>
          <a:p xmlns:a="http://schemas.openxmlformats.org/drawingml/2006/main">
            <a:r>
              <a:t>- https://suno.com/release-notes/introducing-suno-studio</a:t>
            </a:r>
          </a:p>
          <a:p xmlns:a="http://schemas.openxmlformats.org/drawingml/2006/main">
            <a:r>
              <a:t>- Internal: OpenStudio positioning is a management thesis, not a claim of feature-quality equivalence.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Live local capture: .codex_tmp/fundraising_deck/assets/openstudio-main-daw-1920x1080.png</a:t>
            </a:r>
          </a:p>
          <a:p xmlns:a="http://schemas.openxmlformats.org/drawingml/2006/main">
            <a:r>
              <a:t>- Internal: Feature scope: OpenStudio Source/ and frontend/src/ implementation.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https://www.reaper.fm/purchase.php</a:t>
            </a:r>
          </a:p>
          <a:p xmlns:a="http://schemas.openxmlformats.org/drawingml/2006/main">
            <a:r>
              <a:t>- https://shop.celemony.com/cgi-bin/WebObjects/CelemonyShop.woa/wa/shopEntry?article=520&amp;task=displayDetail</a:t>
            </a:r>
          </a:p>
          <a:p xmlns:a="http://schemas.openxmlformats.org/drawingml/2006/main">
            <a:r>
              <a:t>- https://www.native-instruments.com/en/pricing/guitar-rig-6-pro/</a:t>
            </a:r>
          </a:p>
          <a:p xmlns:a="http://schemas.openxmlformats.org/drawingml/2006/main">
            <a:r>
              <a:t>- https://suno.com/pricing</a:t>
            </a:r>
          </a:p>
          <a:p xmlns:a="http://schemas.openxmlformats.org/drawingml/2006/main">
            <a:r>
              <a:t>- Internal: AI capture: repository QA fixture; NAM composite: repo-documented current-development-build capture.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https://www.steinberg.net/cubase/compare-editions/</a:t>
            </a:r>
          </a:p>
          <a:p xmlns:a="http://schemas.openxmlformats.org/drawingml/2006/main">
            <a:r>
              <a:t>- https://kb.avid.com/pkb/articles/en_US/Knowledge/Pro-Tools-Intro-FAQ</a:t>
            </a:r>
          </a:p>
          <a:p xmlns:a="http://schemas.openxmlformats.org/drawingml/2006/main">
            <a:r>
              <a:t>- https://www.cockos.com/reaper/purchase.php</a:t>
            </a:r>
          </a:p>
          <a:p xmlns:a="http://schemas.openxmlformats.org/drawingml/2006/main">
            <a:r>
              <a:t>- https://suno.com/pricing</a:t>
            </a:r>
          </a:p>
          <a:p xmlns:a="http://schemas.openxmlformats.org/drawingml/2006/main">
            <a:r>
              <a:t>- https://suno.com/release-notes/introducing-suno-studio</a:t>
            </a:r>
          </a:p>
          <a:p xmlns:a="http://schemas.openxmlformats.org/drawingml/2006/main">
            <a:r>
              <a:t>- https://help.udio.com/en/articles/10739199-changing-or-canceling-your-subscription</a:t>
            </a:r>
          </a:p>
          <a:p xmlns:a="http://schemas.openxmlformats.org/drawingml/2006/main">
            <a:r>
              <a:t>- Internal: OpenStudio feature access based on the current source tree and local development build.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https://www.grandviewresearch.com/industry-analysis/digital-audio-workstation-market-report</a:t>
            </a:r>
          </a:p>
          <a:p xmlns:a="http://schemas.openxmlformats.org/drawingml/2006/main">
            <a:r>
              <a:t>- https://www.grandviewresearch.com/industry-analysis/generative-ai-in-music-market-report</a:t>
            </a:r>
          </a:p>
          <a:p xmlns:a="http://schemas.openxmlformats.org/drawingml/2006/main">
            <a:r>
              <a:t>- https://prodcd.isb.edu/media/ykmjlwaj/india_creator_economy_interactive_report.html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https://www.production-expert.com/production-expert-1/2025-daw-survey-the-results</a:t>
            </a:r>
          </a:p>
          <a:p xmlns:a="http://schemas.openxmlformats.org/drawingml/2006/main">
            <a:r>
              <a:t>- https://www.wmg.com/news/warner-music-group-and-suno-forge-groundbreaking-partnership</a:t>
            </a:r>
          </a:p>
          <a:p xmlns:a="http://schemas.openxmlformats.org/drawingml/2006/main">
            <a:r>
              <a:t>- https://techcrunch.com/2026/02/27/ai-music-generator-suno-hits-2-million-paid-subscribers-and-300m-in-annual-recurring-revenue/</a:t>
            </a:r>
          </a:p>
          <a:p xmlns:a="http://schemas.openxmlformats.org/drawingml/2006/main">
            <a:r>
              <a:t>- https://suno.com/blog/series-d-announcement</a:t>
            </a:r>
          </a:p>
          <a:p xmlns:a="http://schemas.openxmlformats.org/drawingml/2006/main">
            <a:r>
              <a:t>- https://www.sec.gov/Archives/edgar/data/896841/000089684123000019/avid-20221231.htm</a:t>
            </a:r>
          </a:p>
          <a:p xmlns:a="http://schemas.openxmlformats.org/drawingml/2006/main">
            <a:r>
              <a:t>- https://newsroom.notified.com/avid-technology-inc/posts/pressreleases/stg-completes-acquisition-of-avid-technology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https://arxiv.org/abs/2412.04100</a:t>
            </a:r>
          </a:p>
          <a:p xmlns:a="http://schemas.openxmlformats.org/drawingml/2006/main">
            <a:r>
              <a:t>- https://arxiv.org/abs/2606.05522</a:t>
            </a:r>
          </a:p>
          <a:p xmlns:a="http://schemas.openxmlformats.org/drawingml/2006/main">
            <a:r>
              <a:t>- https://mtg.github.io/saraga/</a:t>
            </a:r>
          </a:p>
          <a:p xmlns:a="http://schemas.openxmlformats.org/drawingml/2006/main">
            <a:r>
              <a:t>- https://compmusic.upf.edu/node/328</a:t>
            </a:r>
          </a:p>
          <a:p xmlns:a="http://schemas.openxmlformats.org/drawingml/2006/main">
            <a:r>
              <a:t>- Internal: The moat statement is a product thesis. Academic representation gaps do not by themselves prove commercial demand.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https://chartmogul.com/reports/saas-conversion-report/</a:t>
            </a:r>
          </a:p>
          <a:p xmlns:a="http://schemas.openxmlformats.org/drawingml/2006/main">
            <a:r>
              <a:t>- https://www.revenuecat.com/state-of-subscription-apps-2026-utilities</a:t>
            </a:r>
          </a:p>
          <a:p xmlns:a="http://schemas.openxmlformats.org/drawingml/2006/main">
            <a:r>
              <a:t>- Internal: This is a management planning case, not current traction.</a:t>
            </a:r>
          </a:p>
          <a:p xmlns:a="http://schemas.openxmlformats.org/drawingml/2006/main">
            <a:r>
              <a:t>- Internal: Paid / MAU means active paying subscribers divided by average monthly active users.</a:t>
            </a:r>
          </a:p>
          <a:p xmlns:a="http://schemas.openxmlformats.org/drawingml/2006/main">
            <a:r>
              <a:t>- Internal: The forecast resets after month 6 using D30/D90 retention, paid churn, AI variable cost, CAC, and plugin/API demand.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https://suno.com/pricing</a:t>
            </a:r>
          </a:p>
          <a:p xmlns:a="http://schemas.openxmlformats.org/drawingml/2006/main">
            <a:r>
              <a:t>- https://help.udio.com/en/articles/10739199-changing-or-canceling-your-subscription</a:t>
            </a:r>
          </a:p>
          <a:p xmlns:a="http://schemas.openxmlformats.org/drawingml/2006/main">
            <a:r>
              <a:t>- https://help.bandlab.com/hc/en-us/articles/20758981227033-BandLab-Membership-FAQ</a:t>
            </a:r>
          </a:p>
          <a:p xmlns:a="http://schemas.openxmlformats.org/drawingml/2006/main">
            <a:r>
              <a:t>- https://elevenlabs.io/pricing/api</a:t>
            </a:r>
          </a:p>
          <a:p xmlns:a="http://schemas.openxmlformats.org/drawingml/2006/main">
            <a:r>
              <a:t>- https://soundraw.io/api</a:t>
            </a:r>
          </a:p>
          <a:p xmlns:a="http://schemas.openxmlformats.org/drawingml/2006/main">
            <a:r>
              <a:t>- https://www.gnu.org/licenses/gpl-faq.en.html</a:t>
            </a:r>
          </a:p>
          <a:p xmlns:a="http://schemas.openxmlformats.org/drawingml/2006/main">
            <a:r>
              <a:t>- https://juce.com/get-juce/</a:t>
            </a:r>
          </a:p>
          <a:p xmlns:a="http://schemas.openxmlformats.org/drawingml/2006/main">
            <a:r>
              <a:t>- Internal: OpenStudio prices are recommended launch tests, not current revenue or finalized pricing.</a:t>
            </a:r>
          </a:p>
          <a:p xmlns:a="http://schemas.openxmlformats.org/drawingml/2006/main">
            <a:r>
              <a:t>- Internal: Blended ARPU includes India pricing, annual discounts, refunds, and tier mix.</a:t>
            </a:r>
          </a:p>
          <a:p xmlns:a="http://schemas.openxmlformats.org/drawingml/2006/main">
            <a:r>
              <a:t>- Internal: Before paid launch, counsel should confirm the AGPLv3 commercialization boundary and JUCE licensing. Proprietary services/plugins must be separately architected, dual-licensed, and/or distributed under the appropriate commercial licenses.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https://www.grandviewresearch.com/industry-analysis/digital-audio-workstation-market-report</a:t>
            </a:r>
          </a:p>
          <a:p xmlns:a="http://schemas.openxmlformats.org/drawingml/2006/main">
            <a:r>
              <a:t>- https://chartmogul.com/reports/saas-conversion-report/</a:t>
            </a:r>
          </a:p>
          <a:p xmlns:a="http://schemas.openxmlformats.org/drawingml/2006/main">
            <a:r>
              <a:t>- https://www.revenuecat.com/state-of-subscription-apps-2026-utilities</a:t>
            </a:r>
          </a:p>
          <a:p xmlns:a="http://schemas.openxmlformats.org/drawingml/2006/main">
            <a:r>
              <a:t>- https://elevenlabs.io/pricing/api</a:t>
            </a:r>
          </a:p>
          <a:p xmlns:a="http://schemas.openxmlformats.org/drawingml/2006/main">
            <a:r>
              <a:t>- Internal: All OpenStudio figures are management projections. Year 1 is months 1–12 after commercial launch; Year 3 is months 25–36.</a:t>
            </a:r>
          </a:p>
          <a:p xmlns:a="http://schemas.openxmlformats.org/drawingml/2006/main">
            <a:r>
              <a:t>- Internal: Planning Y1 = $67.5k subscriptions + $29.4k plugins + $19.2k API = $116.1k. Subscriptions: 30k × 2.5% × $7.50 × 12. Plugins: 30k × 2% × $49. API: 8 × $200 × 12.</a:t>
            </a:r>
          </a:p>
          <a:p xmlns:a="http://schemas.openxmlformats.org/drawingml/2006/main">
            <a:r>
              <a:t>- Internal: Planning Y3 = $892.5k subscriptions + $517.5k plugins + $240k API = $1.65M. Subscriptions: 250k × 3.5% × $8.50 × 12. Plugins: 250k × 3% × $69. API: 75 × $266.67 × 12.</a:t>
            </a:r>
          </a:p>
          <a:p xmlns:a="http://schemas.openxmlformats.org/drawingml/2006/main">
            <a:r>
              <a:t>- Internal: Management upside retains the previous projection: $351k Y1 and $4.404M Y3, with +$474.7k Y3 EBITDA. Planning-case profitability is not asserted until churn, CAC, AI COGS, tax/refunds, and staffing are modeled.</a:t>
            </a:r>
          </a:p>
          <a:p xmlns:a="http://schemas.openxmlformats.org/drawingml/2006/main">
            <a:r>
              <a:t>- Internal: Forecast resets after month 6 using D30/D90 retention, paid churn, AI variable cost, CAC, and plugin/API demand.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https://www.gnu.org/licenses/gpl-faq.en.html</a:t>
            </a:r>
          </a:p>
          <a:p xmlns:a="http://schemas.openxmlformats.org/drawingml/2006/main">
            <a:r>
              <a:t>- https://juce.com/get-juce/</a:t>
            </a:r>
          </a:p>
          <a:p xmlns:a="http://schemas.openxmlformats.org/drawingml/2006/main">
            <a:r>
              <a:t>- Internal: The forecast is rebased after month 6 using measured activation, D30/D90 retention, paid churn, inference cost, CAC, and plugin/API demand.</a:t>
            </a:r>
          </a:p>
          <a:p xmlns:a="http://schemas.openxmlformats.org/drawingml/2006/main">
            <a:r>
              <a:t>- Internal: Before scaling, management targets ≥25% D30 retention among activated beta users, ≥2% active paid / MAU, ≥70% three-month paid retention, AI variable cost below 25% of subscription revenue, and evidence from paying API customers.</a:t>
            </a:r>
          </a:p>
          <a:p xmlns:a="http://schemas.openxmlformats.org/drawingml/2006/main">
            <a:r>
              <a:t>- Internal: The current codebase is AGPLv3. Paid services/plugins require a counsel-approved architecture and licensing strategy, including JUCE licensing where applicable.</a:t>
            </a:r>
          </a:p>
          <a:p xmlns:a="http://schemas.openxmlformats.org/drawingml/2006/main">
            <a:r>
              <a:t>- Internal: Roadmap, timing, milestones, and allocations are proposed management plans.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The $1.5M raise is proposed as an 18–24 month milestone round.</a:t>
            </a:r>
          </a:p>
          <a:p xmlns:a="http://schemas.openxmlformats.org/drawingml/2006/main">
            <a:r>
              <a:t>- Internal: The $1.65M Year-3 planning case and $4.404M management upside are projections, not commitments; runway depends on actual hiring, cloud, data, and legal costs.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0a1588f34144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89add01df8465c" /><Relationship Type="http://schemas.openxmlformats.org/officeDocument/2006/relationships/slideLayout" Target="/ppt/slideLayouts/slideLayout1.xml" Id="R53a8a65a019f4f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a8a65a019f4f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f8e308c9cb4a70" /><Relationship Type="http://schemas.openxmlformats.org/officeDocument/2006/relationships/image" Target="/ppt/media/image.png" Id="Ra3eef0e7490f4689" /><Relationship Type="http://schemas.openxmlformats.org/officeDocument/2006/relationships/notesSlide" Target="/ppt/notesSlides/notesSlide1.xml" Id="Rbfea066dc7134a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a539ac186e4867" /><Relationship Type="http://schemas.openxmlformats.org/officeDocument/2006/relationships/image" Target="/ppt/media/image2.png" Id="Rfd96bb4cf5894b77" /><Relationship Type="http://schemas.openxmlformats.org/officeDocument/2006/relationships/notesSlide" Target="/ppt/notesSlides/notesSlide2.xml" Id="R3b916eed54294f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b60f5907114595" /><Relationship Type="http://schemas.openxmlformats.org/officeDocument/2006/relationships/image" Target="/ppt/media/image3.png" Id="R948c25136fea43f6" /><Relationship Type="http://schemas.openxmlformats.org/officeDocument/2006/relationships/image" Target="/ppt/media/image4.png" Id="R20cef44bf6834cbb" /><Relationship Type="http://schemas.openxmlformats.org/officeDocument/2006/relationships/notesSlide" Target="/ppt/notesSlides/notesSlide3.xml" Id="Rb98026a97c3f48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4c34f1a02a4474" /><Relationship Type="http://schemas.openxmlformats.org/officeDocument/2006/relationships/image" Target="/ppt/media/image5.png" Id="R19346c10953f48bb" /><Relationship Type="http://schemas.openxmlformats.org/officeDocument/2006/relationships/image" Target="/ppt/media/image6.png" Id="R515afdbf19314541" /><Relationship Type="http://schemas.openxmlformats.org/officeDocument/2006/relationships/image" Target="/ppt/media/image7.png" Id="R881e49e49d2b424a" /><Relationship Type="http://schemas.openxmlformats.org/officeDocument/2006/relationships/notesSlide" Target="/ppt/notesSlides/notesSlide4.xml" Id="Rcce1f40dbc6c4e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f27338ac9457f" /><Relationship Type="http://schemas.openxmlformats.org/officeDocument/2006/relationships/image" Target="/ppt/media/image8.png" Id="R0d4338159cdf456e" /><Relationship Type="http://schemas.openxmlformats.org/officeDocument/2006/relationships/notesSlide" Target="/ppt/notesSlides/notesSlide5.xml" Id="R07a5e48a133a4e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48c6acef2c4792" /><Relationship Type="http://schemas.openxmlformats.org/officeDocument/2006/relationships/image" Target="/ppt/media/image9.png" Id="R4f9901661e534f14" /><Relationship Type="http://schemas.openxmlformats.org/officeDocument/2006/relationships/notesSlide" Target="/ppt/notesSlides/notesSlide6.xml" Id="Rf0e26f8ffe344c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72bb96b83a4213" /><Relationship Type="http://schemas.openxmlformats.org/officeDocument/2006/relationships/chart" Target="/ppt/slides/charts/chart1.xml" Id="R93722edf653946ae" /><Relationship Type="http://schemas.openxmlformats.org/officeDocument/2006/relationships/image" Target="/ppt/media/image10.png" Id="R6d410563a4204163" /><Relationship Type="http://schemas.openxmlformats.org/officeDocument/2006/relationships/notesSlide" Target="/ppt/notesSlides/notesSlide7.xml" Id="Rd0e0b82b30654a0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d2057f79da4a68" /><Relationship Type="http://schemas.openxmlformats.org/officeDocument/2006/relationships/image" Target="/ppt/media/image11.png" Id="R11cb10ce139b45e3" /><Relationship Type="http://schemas.openxmlformats.org/officeDocument/2006/relationships/notesSlide" Target="/ppt/notesSlides/notesSlide8.xml" Id="R185f6fdb2406441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3c21a1aaee4305" /><Relationship Type="http://schemas.openxmlformats.org/officeDocument/2006/relationships/image" Target="/ppt/media/image12.png" Id="R187fe9123d9e4f64" /><Relationship Type="http://schemas.openxmlformats.org/officeDocument/2006/relationships/notesSlide" Target="/ppt/notesSlides/notesSlide9.xml" Id="Rc641d7b8627d4d9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c7bde70ebe4d49" /><Relationship Type="http://schemas.openxmlformats.org/officeDocument/2006/relationships/image" Target="/ppt/media/image13.png" Id="R2ca41f0c68dd4fc9" /><Relationship Type="http://schemas.openxmlformats.org/officeDocument/2006/relationships/notesSlide" Target="/ppt/notesSlides/notesSlide10.xml" Id="Ra62ac90f2eae479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c4a23a948541cf" /><Relationship Type="http://schemas.openxmlformats.org/officeDocument/2006/relationships/chart" Target="/ppt/slides/charts/chart2.xml" Id="R8eb688befaab4557" /><Relationship Type="http://schemas.openxmlformats.org/officeDocument/2006/relationships/image" Target="/ppt/media/image14.png" Id="Rc03ba14f2e0a4d73" /><Relationship Type="http://schemas.openxmlformats.org/officeDocument/2006/relationships/notesSlide" Target="/ppt/notesSlides/notesSlide11.xml" Id="R0d4e9584272f423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1c2bb2eac04bc4" /><Relationship Type="http://schemas.openxmlformats.org/officeDocument/2006/relationships/image" Target="/ppt/media/image15.png" Id="R65673933c0f145a3" /><Relationship Type="http://schemas.openxmlformats.org/officeDocument/2006/relationships/notesSlide" Target="/ppt/notesSlides/notesSlide12.xml" Id="R48fad9161b6f43e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dc95146b834f49" /><Relationship Type="http://schemas.openxmlformats.org/officeDocument/2006/relationships/image" Target="/ppt/media/image16.png" Id="R21bdf3a806bb4327" /><Relationship Type="http://schemas.openxmlformats.org/officeDocument/2006/relationships/notesSlide" Target="/ppt/notesSlides/notesSlide13.xml" Id="R24d2af2197c04bc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Share of mentions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5"/>
              <c:pt idx="0">
                <c:v>Pro Tools</c:v>
              </c:pt>
              <c:pt idx="1">
                <c:v>Steinberg*</c:v>
              </c:pt>
              <c:pt idx="2">
                <c:v>Studio 1</c:v>
              </c:pt>
              <c:pt idx="3">
                <c:v>REAPER</c:v>
              </c:pt>
              <c:pt idx="4">
                <c:v>Ableton</c:v>
              </c:pt>
            </c:strLit>
          </c:cat>
          <c:val>
            <c:numLit>
              <c:formatCode>General</c:formatCode>
              <c:ptCount val="5"/>
              <c:pt idx="0">
                <c:v>37.2</c:v>
              </c:pt>
              <c:pt idx="1">
                <c:v>9.7</c:v>
              </c:pt>
              <c:pt idx="2">
                <c:v>8.4</c:v>
              </c:pt>
              <c:pt idx="3">
                <c:v>7.4</c:v>
              </c:pt>
              <c:pt idx="4">
                <c:v>5.9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Subscriptions</c:v>
          </c:tx>
          <c:spPr>
            <a:solidFill xmlns:a="http://schemas.openxmlformats.org/drawingml/2006/main">
              <a:srgbClr val="2563EB"/>
            </a:solidFill>
          </c:spPr>
          <c:cat>
            <c:strLit>
              <c:ptCount val="4"/>
              <c:pt idx="0">
                <c:v>Y1 plan</c:v>
              </c:pt>
              <c:pt idx="1">
                <c:v>Y1 upside</c:v>
              </c:pt>
              <c:pt idx="2">
                <c:v>Y3 plan</c:v>
              </c:pt>
              <c:pt idx="3">
                <c:v>Y3 upside</c:v>
              </c:pt>
            </c:strLit>
          </c:cat>
          <c:val>
            <c:numLit>
              <c:formatCode>General</c:formatCode>
              <c:ptCount val="4"/>
              <c:pt idx="0">
                <c:v>0.0675</c:v>
              </c:pt>
              <c:pt idx="1">
                <c:v>0.2268</c:v>
              </c:pt>
              <c:pt idx="2">
                <c:v>0.8925</c:v>
              </c:pt>
              <c:pt idx="3">
                <c:v>2.4</c:v>
              </c:pt>
            </c:numLit>
          </c:val>
        </c:ser>
        <c:ser>
          <c:idx val="1"/>
          <c:order val="1"/>
          <c:tx>
            <c:v>Premium plugins</c:v>
          </c:tx>
          <c:spPr>
            <a:solidFill xmlns:a="http://schemas.openxmlformats.org/drawingml/2006/main">
              <a:srgbClr val="06B6D4"/>
            </a:solidFill>
          </c:spPr>
          <c:cat>
            <c:strLit>
              <c:ptCount val="4"/>
              <c:pt idx="0">
                <c:v>Y1 plan</c:v>
              </c:pt>
              <c:pt idx="1">
                <c:v>Y1 upside</c:v>
              </c:pt>
              <c:pt idx="2">
                <c:v>Y3 plan</c:v>
              </c:pt>
              <c:pt idx="3">
                <c:v>Y3 upside</c:v>
              </c:pt>
            </c:strLit>
          </c:cat>
          <c:val>
            <c:numLit>
              <c:formatCode>General</c:formatCode>
              <c:ptCount val="4"/>
              <c:pt idx="0">
                <c:v>0.0294</c:v>
              </c:pt>
              <c:pt idx="1">
                <c:v>0.0882</c:v>
              </c:pt>
              <c:pt idx="2">
                <c:v>0.5175</c:v>
              </c:pt>
              <c:pt idx="3">
                <c:v>1.104</c:v>
              </c:pt>
            </c:numLit>
          </c:val>
        </c:ser>
        <c:ser>
          <c:idx val="2"/>
          <c:order val="2"/>
          <c:tx>
            <c:v>Cloud API</c:v>
          </c:tx>
          <c:spPr>
            <a:solidFill xmlns:a="http://schemas.openxmlformats.org/drawingml/2006/main">
              <a:srgbClr val="059669"/>
            </a:solidFill>
          </c:spPr>
          <c:cat>
            <c:strLit>
              <c:ptCount val="4"/>
              <c:pt idx="0">
                <c:v>Y1 plan</c:v>
              </c:pt>
              <c:pt idx="1">
                <c:v>Y1 upside</c:v>
              </c:pt>
              <c:pt idx="2">
                <c:v>Y3 plan</c:v>
              </c:pt>
              <c:pt idx="3">
                <c:v>Y3 upside</c:v>
              </c:pt>
            </c:strLit>
          </c:cat>
          <c:val>
            <c:numLit>
              <c:formatCode>General</c:formatCode>
              <c:ptCount val="4"/>
              <c:pt idx="0">
                <c:v>0.0192</c:v>
              </c:pt>
              <c:pt idx="1">
                <c:v>0.036</c:v>
              </c:pt>
              <c:pt idx="2">
                <c:v>0.24</c:v>
              </c:pt>
              <c:pt idx="3">
                <c:v>0.9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1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5B2091-51CC-43D8-B50B-F336F51A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00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OPENSTUDIO  /  SEED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5DA7B7-FA7D-4F68-A963-D5F82301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76400"/>
            <a:ext cx="9382125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15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615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Free studio.</a:t>
            </a:r>
          </a:p>
          <a:p xmlns:a="http://schemas.openxmlformats.org/drawingml/2006/main">
            <a:pPr algn="l">
              <a:buNone/>
              <a:defRPr sz="615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615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Premium intelligence.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735B52-B984-4B55-983D-5B0D1403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800600"/>
            <a:ext cx="723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A local-first DAW that acquires creators with real utility—then monetizes AI, cloud APIs and premium plugins.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545CC4-7A83-47D9-B127-C104B7FF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57200"/>
            <a:ext cx="12573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eef0e7490f4689"/>
          <a:stretch xmlns:a="http://schemas.openxmlformats.org/drawingml/2006/main"/>
        </p:blipFill>
        <p:spPr>
          <a:xfrm xmlns:a="http://schemas.openxmlformats.org/drawingml/2006/main">
            <a:off x="10210800" y="457200"/>
            <a:ext cx="1257300" cy="1257300"/>
          </a:xfrm>
          <a:prstGeom xmlns:a="http://schemas.openxmlformats.org/drawingml/2006/main" prst="round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6E38BB-3E7B-4ACE-B69E-4E232E54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438900"/>
            <a:ext cx="114014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823864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 2 title">
            <a:extLst xmlns:a="http://schemas.openxmlformats.org/drawingml/2006/main">
              <a:ext uri="{FF2B5EF4-FFF2-40B4-BE49-F238E27FC236}">
                <a16:creationId xmlns:a16="http://schemas.microsoft.com/office/drawing/2014/main" id="{D78E263C-231F-4F3F-92DD-7C224AB2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3850"/>
            <a:ext cx="1104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195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Music creation has split into two incomplete workflows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B4E085-25C8-4E81-908E-BC1D0792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03A07F-57AE-4933-9EFA-98D05110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573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LEGACY DAWs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562CD-7C6D-40CA-A426-46215423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105025"/>
            <a:ext cx="4953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Professional control.</a:t>
            </a:r>
          </a:p>
          <a:p xmlns:a="http://schemas.openxmlformats.org/drawingml/2006/main">
            <a:pPr algn="l">
              <a:buNone/>
              <a:defRPr sz="285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High cost and fragmented add-ons.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3606B7-EB7D-43C5-8BEA-6FEFC573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733800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Pitch, virtual guitar rigs and specialized creation tools often sit behind paid editions or separate purchases.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6086475" y="1619250"/>
            <a:ext cx="953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8E0EA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8E8672-CBAE-4EE8-A604-9FF857AF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619250"/>
            <a:ext cx="14288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2CF115-4899-41B7-B0CE-0BA51900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573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6B6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6B6D4"/>
                </a:solidFill>
                <a:latin typeface="Helvetica Neue"/>
                <a:ea typeface="Helvetica Neue"/>
                <a:cs typeface="Helvetica Neue"/>
              </a:rPr>
              <a:t>AI GENERATORS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989770-3A41-4F8C-8B8E-FCDBB483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05025"/>
            <a:ext cx="4953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Instant ideation.</a:t>
            </a:r>
          </a:p>
          <a:p xmlns:a="http://schemas.openxmlformats.org/drawingml/2006/main">
            <a:pPr algn="l">
              <a:buNone/>
              <a:defRPr sz="285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Shallow production control.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CFF7ED-157A-4FF3-9937-FAC0F889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3380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Generation is fast, but recording, deep editing, plugins and finishing still move into another toolchain.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27569F-7248-4665-90E5-920DC05F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391150"/>
            <a:ext cx="114014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70B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DE5E31-B347-4EEC-8846-EEBF7AE1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91175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GAP  —  one creation-to-production workflow, useful before the paywall.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4BCACC-A7DA-4310-84B1-706E43B4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246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OPENSTUDIO / CONFIDENTIAL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3C4B57-0CA6-4C4F-B806-0AB9ABF7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pic>
        <p:nvPicPr>
          <p:cNvPr id="42" name="OpenStudio centered watermark — 5.0%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96bb4cf5894b77"/>
          <a:stretch xmlns:a="http://schemas.openxmlformats.org/drawingml/2006/main"/>
        </p:blipFill>
        <p:spPr>
          <a:xfrm xmlns:a="http://schemas.openxmlformats.org/drawingml/2006/main">
            <a:off x="4572000" y="1905000"/>
            <a:ext cx="3048000" cy="304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9975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40F761-BC7B-4CA9-86B7-4E273F35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2900"/>
            <a:ext cx="5572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77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The core studio already runs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CC526-AAB6-4C5F-AB52-3CBB9AC4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66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WORKING DEVELOPMENT BUILD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E36EC3-DEAC-4AE0-8F69-3A3E5CCD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47875"/>
            <a:ext cx="542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Record. Edit. Mix. Master.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9E8E27-D03D-4B43-9B05-6BAF33E0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76575"/>
            <a:ext cx="53911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JUCE audio engine + React workflow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• Multitrack recording and mixing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• MIDI editor and graphical pitch pipeline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• VST3 / CLAP / LV2 hosting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• AI generation and source variation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• NAM guitar rig with pedals, cab, EQ and post FX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A7335B-1CA6-4505-AF82-F3FDF3B1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1438275"/>
            <a:ext cx="5539740" cy="3114675"/>
          </a:xfrm>
          <a:prstGeom xmlns:a="http://schemas.openxmlformats.org/drawingml/2006/main" prst="roundRect">
            <a:avLst>
              <a:gd name="adj" fmla="val 2446"/>
            </a:avLst>
          </a:prstGeom>
          <a:solidFill xmlns:a="http://schemas.openxmlformats.org/drawingml/2006/main">
            <a:srgbClr val="0B1018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8c25136fea43f6"/>
          <a:srcRect xmlns:a="http://schemas.openxmlformats.org/drawingml/2006/main" l="0" t="23" r="0" b="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69" y="1438275"/>
            <a:ext cx="5539740" cy="3114675"/>
          </a:xfrm>
          <a:prstGeom xmlns:a="http://schemas.openxmlformats.org/drawingml/2006/main" prst="round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DE800A-C9E6-47C3-902D-83532748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4762500"/>
            <a:ext cx="172974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C385A5-F2D1-4D27-8B70-8E188140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0519" y="4905375"/>
            <a:ext cx="1381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97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FCA56C-5AF2-46EF-88C8-2487BBBE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0519" y="5400675"/>
            <a:ext cx="1381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C++ source / header files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029678-A2B2-4F2A-81CC-DC95AC75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681" y="4762500"/>
            <a:ext cx="172974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FB4FB7-5226-43E0-B9D7-8852BFD5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7131" y="4905375"/>
            <a:ext cx="1381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286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85894D-77B8-4CB1-BD31-64D3F5D0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7131" y="5400675"/>
            <a:ext cx="1381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TypeScript / TSX files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CBEBC1-5678-48BC-AA5C-E536B7CA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2198" y="4762500"/>
            <a:ext cx="172974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239FF6-6874-4926-AE17-A64762EF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3648" y="4905375"/>
            <a:ext cx="1381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374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BE11E1-957B-4FE6-8951-AC60D905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3648" y="5400675"/>
            <a:ext cx="1381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Native bridge registrations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444182-854D-4D70-8B3D-A2565327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246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OPENSTUDIO / CONFIDENTIAL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934604-672E-450F-A92A-794D5852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pic>
        <p:nvPicPr>
          <p:cNvPr id="38" name="OpenStudio centered watermark — 3.0%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cef44bf6834cbb"/>
          <a:stretch xmlns:a="http://schemas.openxmlformats.org/drawingml/2006/main"/>
        </p:blipFill>
        <p:spPr>
          <a:xfrm xmlns:a="http://schemas.openxmlformats.org/drawingml/2006/main">
            <a:off x="4667250" y="2000250"/>
            <a:ext cx="2857500" cy="2857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9304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 4 title">
            <a:extLst xmlns:a="http://schemas.openxmlformats.org/drawingml/2006/main">
              <a:ext uri="{FF2B5EF4-FFF2-40B4-BE49-F238E27FC236}">
                <a16:creationId xmlns:a16="http://schemas.microsoft.com/office/drawing/2014/main" id="{94F50B69-D0A2-4C76-AD11-B9F00314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3850"/>
            <a:ext cx="1104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The acquisition wedge is a $0 first-year 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EA24FA-B4D1-497C-B50B-CA190728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74A933-86F6-41D9-94A0-89928733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323975"/>
            <a:ext cx="1619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$0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C061A4-7830-40E2-9BDD-048C9D47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669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OpenStudio core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5400A1-ED69-45F8-B6E9-7294080D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81175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vs.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6DB800-C4AF-449D-AF6D-13F852F8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323975"/>
            <a:ext cx="247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~$604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9D2844-7CFE-4342-84C8-F3D93B85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669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illustrative first-year stack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EDA7B2-E603-46C9-A441-DBAC4080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524000"/>
            <a:ext cx="4286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REAPER + Melodyne Assistant + Guitar Rig Pro + 1 year Suno Pro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0E30E7-DB4C-4DF5-94C2-7DA5AB74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812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List-price illustration only; not feature or quality equivalence.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A44E9B-943F-4812-B1D9-CAA73A84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105150"/>
            <a:ext cx="5536883" cy="3114675"/>
          </a:xfrm>
          <a:prstGeom xmlns:a="http://schemas.openxmlformats.org/drawingml/2006/main" prst="roundRect">
            <a:avLst>
              <a:gd name="adj" fmla="val 2446"/>
            </a:avLst>
          </a:prstGeom>
          <a:solidFill xmlns:a="http://schemas.openxmlformats.org/drawingml/2006/main">
            <a:srgbClr val="0B1018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346c10953f48bb"/>
          <a:srcRect xmlns:a="http://schemas.openxmlformats.org/drawingml/2006/main" l="0" t="7366" r="0" b="73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3105150"/>
            <a:ext cx="5536883" cy="3114675"/>
          </a:xfrm>
          <a:prstGeom xmlns:a="http://schemas.openxmlformats.org/drawingml/2006/main" prst="round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19CAC0-5BD5-4484-A203-4032977D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105150"/>
            <a:ext cx="5539740" cy="3114675"/>
          </a:xfrm>
          <a:prstGeom xmlns:a="http://schemas.openxmlformats.org/drawingml/2006/main" prst="roundRect">
            <a:avLst>
              <a:gd name="adj" fmla="val 2446"/>
            </a:avLst>
          </a:prstGeom>
          <a:solidFill xmlns:a="http://schemas.openxmlformats.org/drawingml/2006/main">
            <a:srgbClr val="0B1018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5afdbf19314541"/>
          <a:srcRect xmlns:a="http://schemas.openxmlformats.org/drawingml/2006/main" l="3312" t="0" r="33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69" y="3105150"/>
            <a:ext cx="5539740" cy="3114675"/>
          </a:xfrm>
          <a:prstGeom xmlns:a="http://schemas.openxmlformats.org/drawingml/2006/main" prst="round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FC1E60-9012-446F-8217-F3FF12F7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257550"/>
            <a:ext cx="2333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3810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AI CREATE / VARIATION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7BB282-5B91-4AAD-B1FD-67006DD5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57550"/>
            <a:ext cx="1952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47625" rIns="76200" bIns="3810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NAM GUITAR RIG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7BAECF-7B06-4DAB-AAC1-50A031FE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246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OPENSTUDIO / CONFIDENTIAL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E4D792-ECB2-4419-B2FD-F5EE2EBD4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pic>
        <p:nvPicPr>
          <p:cNvPr id="39" name="OpenStudio centered watermark — 3.5%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1e49e49d2b424a"/>
          <a:stretch xmlns:a="http://schemas.openxmlformats.org/drawingml/2006/main"/>
        </p:blipFill>
        <p:spPr>
          <a:xfrm xmlns:a="http://schemas.openxmlformats.org/drawingml/2006/main">
            <a:off x="4572000" y="1905000"/>
            <a:ext cx="3048000" cy="304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6678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 5 title">
            <a:extLst xmlns:a="http://schemas.openxmlformats.org/drawingml/2006/main">
              <a:ext uri="{FF2B5EF4-FFF2-40B4-BE49-F238E27FC236}">
                <a16:creationId xmlns:a16="http://schemas.microsoft.com/office/drawing/2014/main" id="{B5F9DFF5-3B9F-4FA5-8ACD-D85D3E45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3850"/>
            <a:ext cx="1104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OpenStudio wins on breadth before the paywall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DEFC06-BF90-4430-B769-D8F7F0EB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239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Competitors offer depth in parts; OpenStudio bundles the creation-to-production workflow for free.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26AB06-AD87-4D73-8E7A-79A36C45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393668" y="1724025"/>
          <a:ext xmlns:a="http://schemas.openxmlformats.org/drawingml/2006/main" cx="11404568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1571625"/>
                <a:gridCol w="1485900"/>
                <a:gridCol w="1485900"/>
                <a:gridCol w="1428750"/>
                <a:gridCol w="1524000"/>
                <a:gridCol w="1524000"/>
              </a:tblGrid>
              <a:tr h="587829"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CAPABILITY</a:t>
                      </a:r>
                    </a:p>
                  </a:txBody>
                  <a:tcPr marL="91440" marR="91440" marT="45720" marB="45720">
                    <a:solidFill>
                      <a:srgbClr val="070B12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OPENSTUDIO</a:t>
                      </a:r>
                    </a:p>
                  </a:txBody>
                  <a:tcPr marL="91440" marR="91440" marT="45720" marB="45720">
                    <a:solidFill>
                      <a:srgbClr val="070B12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CUBASE</a:t>
                      </a:r>
                    </a:p>
                  </a:txBody>
                  <a:tcPr marL="91440" marR="91440" marT="45720" marB="45720">
                    <a:solidFill>
                      <a:srgbClr val="070B12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 TOOLS</a:t>
                      </a:r>
                    </a:p>
                  </a:txBody>
                  <a:tcPr marL="91440" marR="91440" marT="45720" marB="45720">
                    <a:solidFill>
                      <a:srgbClr val="070B12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REAPER</a:t>
                      </a:r>
                    </a:p>
                  </a:txBody>
                  <a:tcPr marL="91440" marR="91440" marT="45720" marB="45720">
                    <a:solidFill>
                      <a:srgbClr val="070B12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SUNO</a:t>
                      </a:r>
                    </a:p>
                  </a:txBody>
                  <a:tcPr marL="91440" marR="91440" marT="45720" marB="45720">
                    <a:solidFill>
                      <a:srgbClr val="070B12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UDIO</a:t>
                      </a:r>
                    </a:p>
                  </a:txBody>
                  <a:tcPr marL="91440" marR="91440" marT="45720" marB="45720">
                    <a:solidFill>
                      <a:srgbClr val="070B12"/>
                    </a:solidFill>
                  </a:tcPr>
                </a:tc>
              </a:tr>
              <a:tr h="587829"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38" b="1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DAW + recording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38" b="1">
                          <a:solidFill>
                            <a:srgbClr val="2563E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INCLUDED FREE</a:t>
                      </a:r>
                    </a:p>
                  </a:txBody>
                  <a:tcPr marL="91440" marR="91440" marT="45720" marB="45720">
                    <a:solidFill>
                      <a:srgbClr val="EAF5FB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38" b="0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38" b="0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Free / 8 tracks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38" b="0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60-day eval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38" b="0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Browser Studio / paid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38" b="0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core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7829"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38" b="1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MIDI note editing</a:t>
                      </a:r>
                    </a:p>
                  </a:txBody>
                  <a:tcPr marL="91440" marR="91440" marT="45720" marB="45720">
                    <a:solidFill>
                      <a:srgbClr val="F3F7FB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38" b="1">
                          <a:solidFill>
                            <a:srgbClr val="2563E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INCLUDED FREE</a:t>
                      </a:r>
                    </a:p>
                  </a:txBody>
                  <a:tcPr marL="91440" marR="91440" marT="45720" marB="45720">
                    <a:solidFill>
                      <a:srgbClr val="EAF5FB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38" b="0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Paid</a:t>
                      </a:r>
                    </a:p>
                  </a:txBody>
                  <a:tcPr marL="91440" marR="91440" marT="45720" marB="45720">
                    <a:solidFill>
                      <a:srgbClr val="F3F7FB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38" b="0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Free / limited</a:t>
                      </a:r>
                    </a:p>
                  </a:txBody>
                  <a:tcPr marL="91440" marR="91440" marT="45720" marB="45720">
                    <a:solidFill>
                      <a:srgbClr val="F3F7FB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38" b="0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Included in eval</a:t>
                      </a:r>
                    </a:p>
                  </a:txBody>
                  <a:tcPr marL="91440" marR="91440" marT="45720" marB="45720">
                    <a:solidFill>
                      <a:srgbClr val="F3F7FB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38" b="0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Export only / Premier</a:t>
                      </a:r>
                    </a:p>
                  </a:txBody>
                  <a:tcPr marL="91440" marR="91440" marT="45720" marB="45720">
                    <a:solidFill>
                      <a:srgbClr val="F3F7FB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38" b="0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core</a:t>
                      </a:r>
                    </a:p>
                  </a:txBody>
                  <a:tcPr marL="91440" marR="91440" marT="45720" marB="45720">
                    <a:solidFill>
                      <a:srgbClr val="F3F7FB"/>
                    </a:solidFill>
                  </a:tcPr>
                </a:tc>
              </a:tr>
              <a:tr h="587829"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38" b="1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Graphical pitch workflow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38" b="1">
                          <a:solidFill>
                            <a:srgbClr val="2563E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INCLUDED FREE</a:t>
                      </a:r>
                    </a:p>
                  </a:txBody>
                  <a:tcPr marL="91440" marR="91440" marT="45720" marB="45720">
                    <a:solidFill>
                      <a:srgbClr val="EAF5FB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38" b="0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VariAudio / paid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38" b="0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Melodyne separate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38" b="0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Basic ReaTune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38" b="0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Basic Studio tools / paid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38" b="0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core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7829"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38" b="1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AI music generation</a:t>
                      </a:r>
                    </a:p>
                  </a:txBody>
                  <a:tcPr marL="91440" marR="91440" marT="45720" marB="45720">
                    <a:solidFill>
                      <a:srgbClr val="F3F7FB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38" b="1">
                          <a:solidFill>
                            <a:srgbClr val="2563E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FREE / OPTIONAL*</a:t>
                      </a:r>
                    </a:p>
                  </a:txBody>
                  <a:tcPr marL="91440" marR="91440" marT="45720" marB="45720">
                    <a:solidFill>
                      <a:srgbClr val="EAF5FB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38" b="0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core</a:t>
                      </a:r>
                    </a:p>
                  </a:txBody>
                  <a:tcPr marL="91440" marR="91440" marT="45720" marB="45720">
                    <a:solidFill>
                      <a:srgbClr val="F3F7FB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38" b="0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core</a:t>
                      </a:r>
                    </a:p>
                  </a:txBody>
                  <a:tcPr marL="91440" marR="91440" marT="45720" marB="45720">
                    <a:solidFill>
                      <a:srgbClr val="F3F7FB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38" b="0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core</a:t>
                      </a:r>
                    </a:p>
                  </a:txBody>
                  <a:tcPr marL="91440" marR="91440" marT="45720" marB="45720">
                    <a:solidFill>
                      <a:srgbClr val="F3F7FB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38" b="0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Free / credit-limited</a:t>
                      </a:r>
                    </a:p>
                  </a:txBody>
                  <a:tcPr marL="91440" marR="91440" marT="45720" marB="45720">
                    <a:solidFill>
                      <a:srgbClr val="F3F7FB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38" b="0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Free / credit-limited</a:t>
                      </a:r>
                    </a:p>
                  </a:txBody>
                  <a:tcPr marL="91440" marR="91440" marT="45720" marB="45720">
                    <a:solidFill>
                      <a:srgbClr val="F3F7FB"/>
                    </a:solidFill>
                  </a:tcPr>
                </a:tc>
              </a:tr>
              <a:tr h="587829"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38" b="1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Integrated guitar rig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38" b="1">
                          <a:solidFill>
                            <a:srgbClr val="2563E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INCLUDED FREE</a:t>
                      </a:r>
                    </a:p>
                  </a:txBody>
                  <a:tcPr marL="91440" marR="91440" marT="45720" marB="45720">
                    <a:solidFill>
                      <a:srgbClr val="EAF5FB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38" b="0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Paid suite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38" b="0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Limited amps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38" b="0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Plugins separate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38" b="0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core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38" b="0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core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7829"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38" b="1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VST3 / CLAP / LV2 hosting</a:t>
                      </a:r>
                    </a:p>
                  </a:txBody>
                  <a:tcPr marL="91440" marR="91440" marT="45720" marB="45720">
                    <a:solidFill>
                      <a:srgbClr val="F3F7FB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38" b="1">
                          <a:solidFill>
                            <a:srgbClr val="2563E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INCLUDED FREE</a:t>
                      </a:r>
                    </a:p>
                  </a:txBody>
                  <a:tcPr marL="91440" marR="91440" marT="45720" marB="45720">
                    <a:solidFill>
                      <a:srgbClr val="EAF5FB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38" b="0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VST3 / paid</a:t>
                      </a:r>
                    </a:p>
                  </a:txBody>
                  <a:tcPr marL="91440" marR="91440" marT="45720" marB="45720">
                    <a:solidFill>
                      <a:srgbClr val="F3F7FB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38" b="0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AAX / paid</a:t>
                      </a:r>
                    </a:p>
                  </a:txBody>
                  <a:tcPr marL="91440" marR="91440" marT="45720" marB="45720">
                    <a:solidFill>
                      <a:srgbClr val="F3F7FB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38" b="0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Included in eval</a:t>
                      </a:r>
                    </a:p>
                  </a:txBody>
                  <a:tcPr marL="91440" marR="91440" marT="45720" marB="45720">
                    <a:solidFill>
                      <a:srgbClr val="F3F7FB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38" b="0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</a:t>
                      </a:r>
                    </a:p>
                  </a:txBody>
                  <a:tcPr marL="91440" marR="91440" marT="45720" marB="45720">
                    <a:solidFill>
                      <a:srgbClr val="F3F7FB"/>
                    </a:solidFill>
                  </a:tcPr>
                </a:tc>
                <a:tc>
                  <a:txBody>
                    <a:bodyPr lIns="57150" tIns="47625" rIns="57150" bIns="47625" anchor="ctr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38" b="0">
                          <a:solidFill>
                            <a:srgbClr val="070B12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</a:t>
                      </a:r>
                    </a:p>
                  </a:txBody>
                  <a:tcPr marL="91440" marR="91440" marT="45720" marB="45720"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F31F7D-A6E7-4244-B411-56C98CB0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36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* Current development scope. “Included” describes access, not parity with every specialist product.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F1D652-0A00-4EB2-AECC-8C55F777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246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OPENSTUDIO / CONFIDENTIAL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299DC2-9C16-4378-98D3-F06E861C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pic>
        <p:nvPicPr>
          <p:cNvPr id="18" name="OpenStudio centered watermark — 3.0%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4338159cdf456e"/>
          <a:stretch xmlns:a="http://schemas.openxmlformats.org/drawingml/2006/main"/>
        </p:blipFill>
        <p:spPr>
          <a:xfrm xmlns:a="http://schemas.openxmlformats.org/drawingml/2006/main">
            <a:off x="4762500" y="2095500"/>
            <a:ext cx="2667000" cy="266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7685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 6 title">
            <a:extLst xmlns:a="http://schemas.openxmlformats.org/drawingml/2006/main">
              <a:ext uri="{FF2B5EF4-FFF2-40B4-BE49-F238E27FC236}">
                <a16:creationId xmlns:a16="http://schemas.microsoft.com/office/drawing/2014/main" id="{8BA1E9FE-FACB-4A8D-AD8D-06B02522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3850"/>
            <a:ext cx="1104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Three tailwinds meet in one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ABE3BB-4A0C-416A-B8A7-54B72947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DCB452-2568-4478-A3EF-1605929D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57300"/>
            <a:ext cx="1123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OpenStudio sits at the intersection—not the sum—of established DAW spend, high-growth music AI and India’s expanding creator base.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BEBF47-5AB5-489F-8DD8-1F3C5D6F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19425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FBB72B-B2BC-40F7-B5F8-790760BC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19425"/>
            <a:ext cx="3568732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A85932-C2C3-446E-854C-E4EEAA75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18" y="3476625"/>
            <a:ext cx="29908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$4.4B → $8.9B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6D974E-5C1D-421E-9640-604269DC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18" y="4953000"/>
            <a:ext cx="2990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Global DAW market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2025 → 2033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2BF663-B09D-4469-BBF3-B3666670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19425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502DF7-7431-4210-8180-6730353F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19425"/>
            <a:ext cx="3568732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18CA53-AAFA-4159-821C-B46E7950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32" y="3476625"/>
            <a:ext cx="29908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$0.96B → $2.79B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286A05-A776-440B-B8DB-37776DF4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32" y="4953000"/>
            <a:ext cx="2990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Generative AI in music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2026 → 2030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514CBC-D39F-47CF-8904-2500B088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19425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61AE48-8451-4A9F-B691-DBFB71B7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19425"/>
            <a:ext cx="3568732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9980C2-9312-4363-819C-BE687812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8017" y="3476625"/>
            <a:ext cx="29908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4.12M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23527E-75F3-485B-9344-10A1BCB2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8017" y="4953000"/>
            <a:ext cx="2990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Indian creators in 2025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66% outside metros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8AC810-E35F-4601-B479-1B3EF319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246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OPENSTUDIO / CONFIDENTIAL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9B409B-2049-4119-A30C-E362D320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pic>
        <p:nvPicPr>
          <p:cNvPr id="37" name="OpenStudio centered watermark — 5.0%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9901661e534f14"/>
          <a:stretch xmlns:a="http://schemas.openxmlformats.org/drawingml/2006/main"/>
        </p:blipFill>
        <p:spPr>
          <a:xfrm xmlns:a="http://schemas.openxmlformats.org/drawingml/2006/main">
            <a:off x="4572000" y="1905000"/>
            <a:ext cx="3048000" cy="304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343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 7 title">
            <a:extLst xmlns:a="http://schemas.openxmlformats.org/drawingml/2006/main">
              <a:ext uri="{FF2B5EF4-FFF2-40B4-BE49-F238E27FC236}">
                <a16:creationId xmlns:a16="http://schemas.microsoft.com/office/drawing/2014/main" id="{1A5EFC5C-97A4-46B5-982A-E6996393A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3850"/>
            <a:ext cx="1104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Incumbent adoption validates willingness to pay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2963EA-408E-474C-9E7D-5E37C1F6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C6D6D5-179E-4A9F-8035-BDE61CF8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04900"/>
            <a:ext cx="5526405" cy="5095875"/>
          </a:xfrm>
          <a:prstGeom xmlns:a="http://schemas.openxmlformats.org/drawingml/2006/main" prst="roundRect">
            <a:avLst>
              <a:gd name="adj" fmla="val 14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70B1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D31BC2-8A1A-469F-96B3-66D2BCFA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85875"/>
            <a:ext cx="4905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Share of DAW mentions in a 2025 professional-user survey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666750" y="1876425"/>
          <a:ext xmlns:a="http://schemas.openxmlformats.org/drawingml/2006/main" cx="4905375" cy="3790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3722edf653946a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B438E8-7DAC-409B-9C77-5C93C09C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43575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Survey is self-selected, multi-answer and pro/post-skewed—not global market share. *Cubase + Nuendo.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BBBBFF-9D2B-433B-BEA3-0EB68C11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71625"/>
            <a:ext cx="5286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The signal is economic, not just technical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A8EC19-D53E-4EFB-A4E3-1ED1BB04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76500"/>
            <a:ext cx="5286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Creators already pay for production workflows and AI output. OpenStudio’s opportunity is to enter earlier—with a useful free core.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A21ABC-1A1F-4EE2-B33A-FCF63B0A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213" y="3714750"/>
            <a:ext cx="2581275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07868F-D490-42B4-A916-44155DE6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895725"/>
            <a:ext cx="214312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2M paid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$300M ARR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$5.4B valuation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F5AB60-3609-4B1F-BFC3-BB4D887D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219700"/>
            <a:ext cx="2143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Suno · company / CEO-reported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Profit not disclosed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F45895-B6DC-48EB-AC55-771C6ED5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010" y="3714750"/>
            <a:ext cx="2581275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06A4EA-F1AE-4E10-8C3F-4493EEE7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000500"/>
            <a:ext cx="21431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4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$417M revenue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$55M net income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EEFD91-D55C-48BD-93E1-6B602490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5124450"/>
            <a:ext cx="214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Avid FY2022 · all products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2023 take-private: ~$1.4B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EDF36E-227F-4F0A-9440-2F471DA1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60579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1621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Udio: $10M seed; revenue / profit not disclosed. Steinberg and Cockos product economics not disclosed.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1813E7-8B6F-4D52-AB7E-ECA00DA7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246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OPENSTUDIO / CONFIDENTIAL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EDFA41-D51F-4DE7-ABF3-A5A9D50A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pic>
        <p:nvPicPr>
          <p:cNvPr id="38" name="OpenStudio centered watermark — 4.0%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410563a4204163"/>
          <a:stretch xmlns:a="http://schemas.openxmlformats.org/drawingml/2006/main"/>
        </p:blipFill>
        <p:spPr>
          <a:xfrm xmlns:a="http://schemas.openxmlformats.org/drawingml/2006/main">
            <a:off x="4667250" y="2000250"/>
            <a:ext cx="2857500" cy="2857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8263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 8 title">
            <a:extLst xmlns:a="http://schemas.openxmlformats.org/drawingml/2006/main">
              <a:ext uri="{FF2B5EF4-FFF2-40B4-BE49-F238E27FC236}">
                <a16:creationId xmlns:a16="http://schemas.microsoft.com/office/drawing/2014/main" id="{9D920717-FE04-48FD-A78A-4A07D86C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3850"/>
            <a:ext cx="1104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Indian Classical is a model gap—not a genre filter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6819AF-78CE-458F-92C7-38550EE2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5082C9-4488-4996-B3E9-E4868416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573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General-purpose music AI underrepresents the structures that matter: raga, tala, shruti, improvisation and ornamentation.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986CE2-1695-4631-A9D7-BB5C1950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19425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F3B1DE-7B67-42C5-BDA7-69A7C3CD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19425"/>
            <a:ext cx="3568732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C515D3-5702-467D-9AB0-DD01D228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18" y="3476625"/>
            <a:ext cx="29908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86%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0C18BE-E9FD-4898-94D2-B495B73C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18" y="4953000"/>
            <a:ext cx="2990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Analyzed dataset hours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focused on the Global North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CFCEFC-A4FC-4670-8EAE-CE7EB002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19425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4F273F-1CE4-4909-8F75-438B888C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19425"/>
            <a:ext cx="3568732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74A188-54DA-4C57-98F3-D98148F3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32" y="3476625"/>
            <a:ext cx="29908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~5%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94D47F-6F56-4EDD-808E-2C0B920F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32" y="4953000"/>
            <a:ext cx="2990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South Asian representation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across analyzed music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A599C5-6842-4441-8536-C9D1E647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19425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2C831A-230B-4C0C-ABB2-4350E387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19425"/>
            <a:ext cx="3568732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1122C8-CDB9-4BD4-95E6-8A06E2BB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8017" y="3476625"/>
            <a:ext cx="29908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40%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762D29-62AF-4D5E-913D-3350ADA2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8017" y="4953000"/>
            <a:ext cx="2990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Best stylistic fidelity in a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2026 South Asian benchmark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FDCFBC-11A5-47B1-B013-0444C9FD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Licensed / opt-in performances  →  raga + tala + ornament-aware models  →  premium creator tools + 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CDE638-FDEC-4497-A02B-9C033E40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246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OPENSTUDIO / CONFIDENTIAL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AA8D3D-2722-44AF-AFE2-8FEC8B7A4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pic>
        <p:nvPicPr>
          <p:cNvPr id="39" name="OpenStudio centered watermark — 5.0%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cb10ce139b45e3"/>
          <a:stretch xmlns:a="http://schemas.openxmlformats.org/drawingml/2006/main"/>
        </p:blipFill>
        <p:spPr>
          <a:xfrm xmlns:a="http://schemas.openxmlformats.org/drawingml/2006/main">
            <a:off x="4572000" y="1905000"/>
            <a:ext cx="3048000" cy="304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145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 9 title">
            <a:extLst xmlns:a="http://schemas.openxmlformats.org/drawingml/2006/main">
              <a:ext uri="{FF2B5EF4-FFF2-40B4-BE49-F238E27FC236}">
                <a16:creationId xmlns:a16="http://schemas.microsoft.com/office/drawing/2014/main" id="{168CA730-D4BC-4D1F-8DFB-A3CC4501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3850"/>
            <a:ext cx="1104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Free acquisition creates paid conversion moments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1D397A-2FEE-4494-9C21-1B2C68E3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337757" y="3373755"/>
            <a:ext cx="11458575" cy="953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070B12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17F9A9-2EB3-4A1E-871F-618D97EA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18" y="332041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75E3BA-EB76-4B24-B41F-61891220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003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01  ACQUIRE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1FE3B3-401D-47A7-A16B-D5D3B6AA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790950"/>
            <a:ext cx="317182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A genuinely useful free studio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Creator colleges · guitar communities · regional-language educators · open-source channels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34BC24-F60F-496B-9C38-AE88A0A5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32" y="332041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4E72F5-FBA2-426C-803E-1627C252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28003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02  ACTIVATE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7E2B30-741F-4130-9A14-A1CE15C0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790950"/>
            <a:ext cx="317182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First-session success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Record or import · create a variation · edit pitch / MIDI · shape a guitar tone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E6A952-7839-47B6-B6E7-4C1F783A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5117" y="332041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6B7AFA-3918-4A45-A176-EC7A23B46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28003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6B6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6B6D4"/>
                </a:solidFill>
                <a:latin typeface="Helvetica Neue"/>
                <a:ea typeface="Helvetica Neue"/>
                <a:cs typeface="Helvetica Neue"/>
              </a:rPr>
              <a:t>03  CONVERT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D0C967-2245-436F-8F96-5A864DE8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790950"/>
            <a:ext cx="317182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Pay at the value boundary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Commercial AI · more compute · cloud collaboration · API access · premium plugins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7CC456-D4F6-48C9-A87F-10C92E3A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791200"/>
            <a:ext cx="1140142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70B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3D6304-D3F6-4F97-9789-F388E371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86450"/>
            <a:ext cx="1085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YEAR 1 PLANNING FUNNEL  —  30k average MAU  ·  2.5% paid / MAU  ·  $7.50 blended ARPU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74A4C7-1CED-46DF-B050-5A6B6AED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246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OPENSTUDIO / CONFIDENTIAL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27862B-D35F-42D9-AAAC-C770AF41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pic>
        <p:nvPicPr>
          <p:cNvPr id="40" name="OpenStudio centered watermark — 6.0%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7fe9123d9e4f64"/>
          <a:stretch xmlns:a="http://schemas.openxmlformats.org/drawingml/2006/main"/>
        </p:blipFill>
        <p:spPr>
          <a:xfrm xmlns:a="http://schemas.openxmlformats.org/drawingml/2006/main">
            <a:off x="4381500" y="1714500"/>
            <a:ext cx="342900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8114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 10 title">
            <a:extLst xmlns:a="http://schemas.openxmlformats.org/drawingml/2006/main">
              <a:ext uri="{FF2B5EF4-FFF2-40B4-BE49-F238E27FC236}">
                <a16:creationId xmlns:a16="http://schemas.microsoft.com/office/drawing/2014/main" id="{95060EAF-71D0-48C4-B089-70E6E99B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3850"/>
            <a:ext cx="1104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0945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Charge for compute and commercial leverage—not the core 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AB6557-4464-4ACD-8A6F-DEB796A4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EBA540-59A7-447D-86AC-5113B4E0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809750"/>
            <a:ext cx="3568732" cy="40386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0C3638-D5F4-4E75-8415-933F35DC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368" y="2095500"/>
            <a:ext cx="3009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OPENSTUDIO FREE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29A33F-F393-4DDC-B5AD-9EA2EEFF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368" y="2619375"/>
            <a:ext cx="30099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DAW + recording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MIDI + pitch editor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NAM guitar rig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Plugin hosting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Limited cloud 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91E6AA-401B-437C-99E6-F2D152DA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368" y="4657725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Full local studio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775C64-E137-4601-B69A-F076D45D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368" y="51435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$0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AF229F-E252-4DC3-BB8E-7BDB8C8E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09750"/>
            <a:ext cx="3568732" cy="40386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178D33-0E0F-42BF-AEAF-B64CDE34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3009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CREATOR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770FAE-1068-4399-9C58-5142F1B5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19375"/>
            <a:ext cx="30099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Commercial AI credits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Higher-quality generation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Stem separation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Indian-model packs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$90 annual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D5466D-0ADB-4325-8264-E3337BB5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57725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₹499 / mo India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1B80BB-9953-40FB-8969-489F81E2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1435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$9 / 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7598D1-75F9-4A89-A60D-0109F9E4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32" y="1809750"/>
            <a:ext cx="3568732" cy="40386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E9F9F7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704B8A-B5F9-44FC-8FA2-7ADE5FBA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3632" y="2095500"/>
            <a:ext cx="3009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rPr>
              <a:t>PRO AI + CLOUD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252B34-29CF-4121-B6D0-9D8B5240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3632" y="2619375"/>
            <a:ext cx="30099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More compute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Private projects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Batch + cloud workflows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API priority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$190 annual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B71544-DD9D-475A-9291-E7501F75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3632" y="4657725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₹999 / mo India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E09BE0-528F-4DDC-B29E-0D7934C8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3632" y="51435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$19 / mo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EB36B6-349C-4639-8ECC-73FC118D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010275"/>
            <a:ext cx="11401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ADDITIONAL ARPU  —  $39–$99 premium plugins  ·  API from $49 / month + metered usage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F2E39E-F45B-4100-94EC-0B23C7B8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246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OPENSTUDIO / CONFIDENTIAL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0F52FA-200A-40AA-9816-99ACF0B0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pic>
        <p:nvPicPr>
          <p:cNvPr id="43" name="OpenStudio centered watermark — 4.0%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a41f0c68dd4fc9"/>
          <a:stretch xmlns:a="http://schemas.openxmlformats.org/drawingml/2006/main"/>
        </p:blipFill>
        <p:spPr>
          <a:xfrm xmlns:a="http://schemas.openxmlformats.org/drawingml/2006/main">
            <a:off x="4667250" y="2000250"/>
            <a:ext cx="2857500" cy="2857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5240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 11 title">
            <a:extLst xmlns:a="http://schemas.openxmlformats.org/drawingml/2006/main">
              <a:ext uri="{FF2B5EF4-FFF2-40B4-BE49-F238E27FC236}">
                <a16:creationId xmlns:a16="http://schemas.microsoft.com/office/drawing/2014/main" id="{CD26605E-9C9D-4738-AF7D-631C94B2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3850"/>
            <a:ext cx="1104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A measured plan preserves meaningful upside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16C0EA-32B5-47C0-AD63-34AFFEE3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B63B64-58C1-4671-8F56-5019A46D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066800"/>
            <a:ext cx="5526405" cy="5219700"/>
          </a:xfrm>
          <a:prstGeom xmlns:a="http://schemas.openxmlformats.org/drawingml/2006/main" prst="roundRect">
            <a:avLst>
              <a:gd name="adj" fmla="val 14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70B1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D80D53-DF8E-462B-83A9-4C7086A7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6682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Revenue scenarios by stream ($M)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47700" y="1676400"/>
          <a:ext xmlns:a="http://schemas.openxmlformats.org/drawingml/2006/main" cx="4953000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eb688befaab4557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8DA0C4-57A5-49F7-861A-14567AC4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46685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Planning assumptions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0B86C8-EDC2-4796-B617-05F2679B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09775"/>
            <a:ext cx="4953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MAU  30k → 250k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Paid / MAU  2.5% → 3.5%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Paid ARPU  $7.50 → $8.50 / mo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Plugin attach  2% → 3% · API  8 → 75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89621F-9107-4D1F-AE45-4AC7E568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213" y="3695700"/>
            <a:ext cx="2581275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A77054-4C85-49D5-8160-6E948D33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9814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$0.12M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FDB03D-6DD4-45DC-8FD3-21418763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695825"/>
            <a:ext cx="209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YEAR 1 PLAN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Upside $0.35M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Investment phase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B3A814-B2F2-4F44-AD96-BBFBBF44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010" y="3695700"/>
            <a:ext cx="2581275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E9F9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AAF785-AD62-432E-9231-A16CC7F0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9814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059669"/>
                </a:solidFill>
                <a:latin typeface="Helvetica Neue"/>
                <a:ea typeface="Helvetica Neue"/>
                <a:cs typeface="Helvetica Neue"/>
              </a:rPr>
              <a:t>$1.65M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9ED2FA-1F47-4687-ABED-F550F684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695825"/>
            <a:ext cx="209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YEAR 3 PLAN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Upside $4.40M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Upside EBITDA +$0.47M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78EC2F-59BB-456F-B252-3AF8352C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076950"/>
            <a:ext cx="523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Y3 plan ≈0.04% of DAW market; upside ≈0.10%. Reforecast at month 6.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F2B42A-AA82-4932-B360-B4ADD4F2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246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OPENSTUDIO / CONFIDENTIAL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C41CC7-2864-432F-B299-16AC178F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pic>
        <p:nvPicPr>
          <p:cNvPr id="36" name="OpenStudio centered watermark — 4.0%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3ba14f2e0a4d73"/>
          <a:stretch xmlns:a="http://schemas.openxmlformats.org/drawingml/2006/main"/>
        </p:blipFill>
        <p:spPr>
          <a:xfrm xmlns:a="http://schemas.openxmlformats.org/drawingml/2006/main">
            <a:off x="4667250" y="2000250"/>
            <a:ext cx="2857500" cy="2857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5547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 12 title">
            <a:extLst xmlns:a="http://schemas.openxmlformats.org/drawingml/2006/main">
              <a:ext uri="{FF2B5EF4-FFF2-40B4-BE49-F238E27FC236}">
                <a16:creationId xmlns:a16="http://schemas.microsoft.com/office/drawing/2014/main" id="{D90EA42D-0083-4FCE-8296-8CE318EA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3850"/>
            <a:ext cx="1104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$1.5M funds an 18–24 month milestone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60FAED-B17D-4796-BAB3-15BBC5E0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337757" y="3373755"/>
            <a:ext cx="11458575" cy="953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070B12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DDF445-369A-4DD7-B534-215FCB4C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518" y="332041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D876D5-FA68-4BE5-98C4-3F170105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003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0–6 MONTHS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A06569-68E0-4642-8795-13760154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790950"/>
            <a:ext cx="317182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Launch + validate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Installers · onboarding · audio QA · AGPL/JUCE boundary · consented analytics · forecast rebase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D90EB8-F044-47BB-ACB8-B8ACDC1E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32" y="332041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EF98FC-756E-46BC-A977-B4CF38B7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28003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6–12 MONTHS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22E9C9-AB3A-46E3-B5C1-6E34A7B2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790950"/>
            <a:ext cx="317182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Prove monetization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Paid AI tiers · credit metering · premium plugins · 10k MAU · ≥2% paid / MAU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DA94E0-B5DE-44CC-8DF0-4B3DF857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5117" y="332041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818956-8495-41B7-AB88-1794EE48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28003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6B6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6B6D4"/>
                </a:solidFill>
                <a:latin typeface="Helvetica Neue"/>
                <a:ea typeface="Helvetica Neue"/>
                <a:cs typeface="Helvetica Neue"/>
              </a:rPr>
              <a:t>12–24 MONTHS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A94876-D688-4266-A60C-9CCABA28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790950"/>
            <a:ext cx="317182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Defend + scale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75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Licensed Indian corpus · raga / tala models · cloud API · 20 paying API customers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B8D8AD-5A14-46A9-8C2D-C6E86761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781675"/>
            <a:ext cx="11401425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70B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8F99F1-7ABD-4CC1-AB6D-3A10307A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95975"/>
            <a:ext cx="11001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MILESTONE ROUND   40% ML + DATA   ·   30% PRODUCT   ·   20% GTM   ·   10% CLOUD / LEGAL / OPS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796AA0-B1AD-4F55-9179-B3F41CA0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246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OPENSTUDIO / CONFIDENTIAL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C01765-17D4-47B2-9728-11E71E87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728093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pic>
        <p:nvPicPr>
          <p:cNvPr id="40" name="OpenStudio centered watermark — 5.5%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673933c0f145a3"/>
          <a:stretch xmlns:a="http://schemas.openxmlformats.org/drawingml/2006/main"/>
        </p:blipFill>
        <p:spPr>
          <a:xfrm xmlns:a="http://schemas.openxmlformats.org/drawingml/2006/main">
            <a:off x="4381500" y="1714500"/>
            <a:ext cx="342900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3811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289478-144C-40DC-A8C8-11561DDE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005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OPENSTUDIO  /  PROPOSED SEED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7B3622-0790-4D5F-B516-99A8F2BD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43075"/>
            <a:ext cx="952500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3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6300" b="1">
                <a:solidFill>
                  <a:srgbClr val="070B12"/>
                </a:solidFill>
                <a:latin typeface="Helvetica Neue"/>
                <a:ea typeface="Helvetica Neue"/>
                <a:cs typeface="Helvetica Neue"/>
              </a:rPr>
              <a:t>Raising $1.5M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8EAF60-F8BE-4353-88E1-AEF97813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895850"/>
            <a:ext cx="723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4C5968"/>
                </a:solidFill>
                <a:latin typeface="Helvetica Neue"/>
                <a:ea typeface="Helvetica Neue"/>
                <a:cs typeface="Helvetica Neue"/>
              </a:rPr>
              <a:t>18–24 months to prove retention, launch paid AI, and earn a $4.40M Year-3 upside.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326A55-0265-4512-AFC8-143F8C96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610225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openstudio.org.in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79A6B5-4220-40C3-BFD1-30FD5BC8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438900"/>
            <a:ext cx="114014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OpenStudio centered watermark — 3.5%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bdf3a806bb4327"/>
          <a:stretch xmlns:a="http://schemas.openxmlformats.org/drawingml/2006/main"/>
        </p:blipFill>
        <p:spPr>
          <a:xfrm xmlns:a="http://schemas.openxmlformats.org/drawingml/2006/main">
            <a:off x="4667250" y="2000250"/>
            <a:ext cx="2857500" cy="2857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8990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2026-07-27T23:01:17.0790000Z</dcterms:created>
  <dcterms:modified xsi:type="dcterms:W3CDTF">2026-07-27T23:01:17.0790000Z</dcterms:modified>
</coreProperties>
</file>