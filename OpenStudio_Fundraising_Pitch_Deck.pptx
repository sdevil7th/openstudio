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ab42cf42b4285" /><Relationship Type="http://schemas.openxmlformats.org/officeDocument/2006/relationships/extended-properties" Target="/docProps/app.xml" Id="Racb41519669f458e" /><Relationship Type="http://schemas.openxmlformats.org/officeDocument/2006/relationships/officeDocument" Target="/ppt/presentation.xml" Id="R68df9253493044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97b5d9b71540f5"/>
  </p:sldMasterIdLst>
  <p:notesMasterIdLst>
    <p:notesMasterId xmlns:r="http://schemas.openxmlformats.org/officeDocument/2006/relationships" r:id="R8a2ef362fe0a44c1"/>
  </p:notesMasterIdLst>
  <p:sldIdLst>
    <p:sldId xmlns:r="http://schemas.openxmlformats.org/officeDocument/2006/relationships" id="256" r:id="R3dcfc95196f44141"/>
    <p:sldId xmlns:r="http://schemas.openxmlformats.org/officeDocument/2006/relationships" id="257" r:id="R52e831fc1ac94260"/>
    <p:sldId xmlns:r="http://schemas.openxmlformats.org/officeDocument/2006/relationships" id="258" r:id="R27b242bcbe9a42a7"/>
    <p:sldId xmlns:r="http://schemas.openxmlformats.org/officeDocument/2006/relationships" id="259" r:id="R1a9a8e83295247cf"/>
    <p:sldId xmlns:r="http://schemas.openxmlformats.org/officeDocument/2006/relationships" id="260" r:id="R5d7a5084810c4f64"/>
    <p:sldId xmlns:r="http://schemas.openxmlformats.org/officeDocument/2006/relationships" id="261" r:id="R58b1f06edba946f6"/>
    <p:sldId xmlns:r="http://schemas.openxmlformats.org/officeDocument/2006/relationships" id="262" r:id="R335b3d8a213c4767"/>
    <p:sldId xmlns:r="http://schemas.openxmlformats.org/officeDocument/2006/relationships" id="263" r:id="R709776f459524dce"/>
    <p:sldId xmlns:r="http://schemas.openxmlformats.org/officeDocument/2006/relationships" id="264" r:id="Rc426f85e04c7447c"/>
    <p:sldId xmlns:r="http://schemas.openxmlformats.org/officeDocument/2006/relationships" id="265" r:id="R2878a7803f9e4cc4"/>
    <p:sldId xmlns:r="http://schemas.openxmlformats.org/officeDocument/2006/relationships" id="266" r:id="Rf39967ae52f641ab"/>
    <p:sldId xmlns:r="http://schemas.openxmlformats.org/officeDocument/2006/relationships" id="267" r:id="R2f6ad12d99df4543"/>
    <p:sldId xmlns:r="http://schemas.openxmlformats.org/officeDocument/2006/relationships" id="268" r:id="R4bd4b55fa8ed4e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72aebfdf484702" /><Relationship Type="http://schemas.openxmlformats.org/officeDocument/2006/relationships/slideMaster" Target="/ppt/slideMasters/slideMaster1.xml" Id="R4d97b5d9b71540f5" /><Relationship Type="http://schemas.openxmlformats.org/officeDocument/2006/relationships/notesMaster" Target="/ppt/notesMasters/notesMaster1.xml" Id="R8a2ef362fe0a44c1" /><Relationship Type="http://schemas.openxmlformats.org/officeDocument/2006/relationships/presProps" Target="/ppt/presProps.xml" Id="Rdef096ea63d2400b" /><Relationship Type="http://schemas.openxmlformats.org/officeDocument/2006/relationships/tableStyles" Target="/ppt/tableStyles.xml" Id="Rd5c6f75e61e3496b" /><Relationship Type="http://schemas.openxmlformats.org/officeDocument/2006/relationships/slide" Target="/ppt/slides/slide1.xml" Id="R3dcfc95196f44141" /><Relationship Type="http://schemas.openxmlformats.org/officeDocument/2006/relationships/slide" Target="/ppt/slides/slide2.xml" Id="R52e831fc1ac94260" /><Relationship Type="http://schemas.openxmlformats.org/officeDocument/2006/relationships/slide" Target="/ppt/slides/slide3.xml" Id="R27b242bcbe9a42a7" /><Relationship Type="http://schemas.openxmlformats.org/officeDocument/2006/relationships/slide" Target="/ppt/slides/slide4.xml" Id="R1a9a8e83295247cf" /><Relationship Type="http://schemas.openxmlformats.org/officeDocument/2006/relationships/slide" Target="/ppt/slides/slide5.xml" Id="R5d7a5084810c4f64" /><Relationship Type="http://schemas.openxmlformats.org/officeDocument/2006/relationships/slide" Target="/ppt/slides/slide6.xml" Id="R58b1f06edba946f6" /><Relationship Type="http://schemas.openxmlformats.org/officeDocument/2006/relationships/slide" Target="/ppt/slides/slide7.xml" Id="R335b3d8a213c4767" /><Relationship Type="http://schemas.openxmlformats.org/officeDocument/2006/relationships/slide" Target="/ppt/slides/slide8.xml" Id="R709776f459524dce" /><Relationship Type="http://schemas.openxmlformats.org/officeDocument/2006/relationships/slide" Target="/ppt/slides/slide9.xml" Id="Rc426f85e04c7447c" /><Relationship Type="http://schemas.openxmlformats.org/officeDocument/2006/relationships/slide" Target="/ppt/slides/slide10.xml" Id="R2878a7803f9e4cc4" /><Relationship Type="http://schemas.openxmlformats.org/officeDocument/2006/relationships/slide" Target="/ppt/slides/slide11.xml" Id="Rf39967ae52f641ab" /><Relationship Type="http://schemas.openxmlformats.org/officeDocument/2006/relationships/slide" Target="/ppt/slides/slide12.xml" Id="R2f6ad12d99df4543" /><Relationship Type="http://schemas.openxmlformats.org/officeDocument/2006/relationships/slide" Target="/ppt/slides/slide13.xml" Id="R4bd4b55fa8ed4e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59fb7945f4b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cb3dae62f04427" /><Relationship Type="http://schemas.openxmlformats.org/officeDocument/2006/relationships/notesMaster" Target="/ppt/notesMasters/notesMaster1.xml" Id="R9cdac68b64d442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1cd75e5f20424d" /><Relationship Type="http://schemas.openxmlformats.org/officeDocument/2006/relationships/notesMaster" Target="/ppt/notesMasters/notesMaster1.xml" Id="Re88a54f2c18049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70f674df5c426a" /><Relationship Type="http://schemas.openxmlformats.org/officeDocument/2006/relationships/notesMaster" Target="/ppt/notesMasters/notesMaster1.xml" Id="R67c257c2c9db48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61d3df426b46d2" /><Relationship Type="http://schemas.openxmlformats.org/officeDocument/2006/relationships/notesMaster" Target="/ppt/notesMasters/notesMaster1.xml" Id="R6ff0d0c7e96c4a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4fedf41dd3484e" /><Relationship Type="http://schemas.openxmlformats.org/officeDocument/2006/relationships/notesMaster" Target="/ppt/notesMasters/notesMaster1.xml" Id="R44579234e5c343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40c3b72d1f4006" /><Relationship Type="http://schemas.openxmlformats.org/officeDocument/2006/relationships/notesMaster" Target="/ppt/notesMasters/notesMaster1.xml" Id="R6821a41ff43d4d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42622e8452455f" /><Relationship Type="http://schemas.openxmlformats.org/officeDocument/2006/relationships/notesMaster" Target="/ppt/notesMasters/notesMaster1.xml" Id="R149d86e3b7e84d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71eb92e5034289" /><Relationship Type="http://schemas.openxmlformats.org/officeDocument/2006/relationships/notesMaster" Target="/ppt/notesMasters/notesMaster1.xml" Id="Rc94023c831654e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c1ebf85af14950" /><Relationship Type="http://schemas.openxmlformats.org/officeDocument/2006/relationships/notesMaster" Target="/ppt/notesMasters/notesMaster1.xml" Id="R33a9da8044fb4d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1f71b685c64954" /><Relationship Type="http://schemas.openxmlformats.org/officeDocument/2006/relationships/notesMaster" Target="/ppt/notesMasters/notesMaster1.xml" Id="R55cc3f7e1a5f4a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c55c5ea0464208" /><Relationship Type="http://schemas.openxmlformats.org/officeDocument/2006/relationships/notesMaster" Target="/ppt/notesMasters/notesMaster1.xml" Id="Re83df1ab988d46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ff803bba7d4da2" /><Relationship Type="http://schemas.openxmlformats.org/officeDocument/2006/relationships/notesMaster" Target="/ppt/notesMasters/notesMaster1.xml" Id="Rc77f73f8e1a94a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5a54997cc94e9e" /><Relationship Type="http://schemas.openxmlformats.org/officeDocument/2006/relationships/notesMaster" Target="/ppt/notesMasters/notesMaster1.xml" Id="Rc7dcba5be84c44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OpenStudio logo and product thesis supplied by the project repository.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https://www.steinberg.net/cubase/compare-editions/</a:t>
            </a:r>
          </a:p>
          <a:p xmlns:a="http://schemas.openxmlformats.org/drawingml/2006/main">
            <a:r>
              <a:t>- https://kb.avid.com/pkb/articles/en_US/Knowledge/Pro-Tools-Intro-FAQ</a:t>
            </a:r>
          </a:p>
          <a:p xmlns:a="http://schemas.openxmlformats.org/drawingml/2006/main">
            <a:r>
              <a:t>- https://suno.com/pricing</a:t>
            </a:r>
          </a:p>
          <a:p xmlns:a="http://schemas.openxmlformats.org/drawingml/2006/main">
            <a:r>
              <a:t>- https://suno.com/release-notes/introducing-suno-studio</a:t>
            </a:r>
          </a:p>
          <a:p xmlns:a="http://schemas.openxmlformats.org/drawingml/2006/main">
            <a:r>
              <a:t>- Internal: OpenStudio positioning is a management thesis, not a claim of feature-quality equivalence.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Live local capture: .codex_tmp/fundraising_deck/assets/openstudio-main-daw-1920x1080.png</a:t>
            </a:r>
          </a:p>
          <a:p xmlns:a="http://schemas.openxmlformats.org/drawingml/2006/main">
            <a:r>
              <a:t>- Internal: Feature scope: OpenStudio Source/ and frontend/src/ implementation.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https://www.reaper.fm/purchase.php</a:t>
            </a:r>
          </a:p>
          <a:p xmlns:a="http://schemas.openxmlformats.org/drawingml/2006/main">
            <a:r>
              <a:t>- https://shop.celemony.com/cgi-bin/WebObjects/CelemonyShop.woa/wa/shopEntry?article=520&amp;task=displayDetail</a:t>
            </a:r>
          </a:p>
          <a:p xmlns:a="http://schemas.openxmlformats.org/drawingml/2006/main">
            <a:r>
              <a:t>- https://www.native-instruments.com/en/pricing/guitar-rig-6-pro/</a:t>
            </a:r>
          </a:p>
          <a:p xmlns:a="http://schemas.openxmlformats.org/drawingml/2006/main">
            <a:r>
              <a:t>- https://suno.com/pricing</a:t>
            </a:r>
          </a:p>
          <a:p xmlns:a="http://schemas.openxmlformats.org/drawingml/2006/main">
            <a:r>
              <a:t>- Internal: AI capture: repository QA fixture; NAM composite: repo-documented current-development-build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https://www.steinberg.net/cubase/compare-editions/</a:t>
            </a:r>
          </a:p>
          <a:p xmlns:a="http://schemas.openxmlformats.org/drawingml/2006/main">
            <a:r>
              <a:t>- https://kb.avid.com/pkb/articles/en_US/Knowledge/Pro-Tools-Intro-FAQ</a:t>
            </a:r>
          </a:p>
          <a:p xmlns:a="http://schemas.openxmlformats.org/drawingml/2006/main">
            <a:r>
              <a:t>- https://www.cockos.com/reaper/purchase.php</a:t>
            </a:r>
          </a:p>
          <a:p xmlns:a="http://schemas.openxmlformats.org/drawingml/2006/main">
            <a:r>
              <a:t>- https://suno.com/pricing</a:t>
            </a:r>
          </a:p>
          <a:p xmlns:a="http://schemas.openxmlformats.org/drawingml/2006/main">
            <a:r>
              <a:t>- https://suno.com/release-notes/introducing-suno-studio</a:t>
            </a:r>
          </a:p>
          <a:p xmlns:a="http://schemas.openxmlformats.org/drawingml/2006/main">
            <a:r>
              <a:t>- https://help.udio.com/en/articles/10739199-changing-or-canceling-your-subscription</a:t>
            </a:r>
          </a:p>
          <a:p xmlns:a="http://schemas.openxmlformats.org/drawingml/2006/main">
            <a:r>
              <a:t>- Internal: OpenStudio feature access based on the current source tree and local development build.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https://www.grandviewresearch.com/industry-analysis/digital-audio-workstation-market-report</a:t>
            </a:r>
          </a:p>
          <a:p xmlns:a="http://schemas.openxmlformats.org/drawingml/2006/main">
            <a:r>
              <a:t>- https://www.grandviewresearch.com/industry-analysis/generative-ai-in-music-market-report</a:t>
            </a:r>
          </a:p>
          <a:p xmlns:a="http://schemas.openxmlformats.org/drawingml/2006/main">
            <a:r>
              <a:t>- https://prodcd.isb.edu/media/ykmjlwaj/india_creator_economy_interactive_report.html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https://www.production-expert.com/production-expert-1/2025-daw-survey-the-results</a:t>
            </a:r>
          </a:p>
          <a:p xmlns:a="http://schemas.openxmlformats.org/drawingml/2006/main">
            <a:r>
              <a:t>- https://www.wmg.com/news/warner-music-group-and-suno-forge-groundbreaking-partnership</a:t>
            </a:r>
          </a:p>
          <a:p xmlns:a="http://schemas.openxmlformats.org/drawingml/2006/main">
            <a:r>
              <a:t>- https://techcrunch.com/2026/02/27/ai-music-generator-suno-hits-2-million-paid-subscribers-and-300m-in-annual-recurring-revenue/</a:t>
            </a:r>
          </a:p>
          <a:p xmlns:a="http://schemas.openxmlformats.org/drawingml/2006/main">
            <a:r>
              <a:t>- https://suno.com/blog/series-d-announcement</a:t>
            </a:r>
          </a:p>
          <a:p xmlns:a="http://schemas.openxmlformats.org/drawingml/2006/main">
            <a:r>
              <a:t>- https://www.sec.gov/Archives/edgar/data/896841/000089684123000019/avid-20221231.htm</a:t>
            </a:r>
          </a:p>
          <a:p xmlns:a="http://schemas.openxmlformats.org/drawingml/2006/main">
            <a:r>
              <a:t>- https://newsroom.notified.com/avid-technology-inc/posts/pressreleases/stg-completes-acquisition-of-avid-technology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https://arxiv.org/abs/2412.04100</a:t>
            </a:r>
          </a:p>
          <a:p xmlns:a="http://schemas.openxmlformats.org/drawingml/2006/main">
            <a:r>
              <a:t>- https://arxiv.org/abs/2606.05522</a:t>
            </a:r>
          </a:p>
          <a:p xmlns:a="http://schemas.openxmlformats.org/drawingml/2006/main">
            <a:r>
              <a:t>- https://mtg.github.io/saraga/</a:t>
            </a:r>
          </a:p>
          <a:p xmlns:a="http://schemas.openxmlformats.org/drawingml/2006/main">
            <a:r>
              <a:t>- https://compmusic.upf.edu/node/328</a:t>
            </a:r>
          </a:p>
          <a:p xmlns:a="http://schemas.openxmlformats.org/drawingml/2006/main">
            <a:r>
              <a:t>- Internal: The moat statement is a product thesis. Academic representation gaps do not by themselves prove commercial demand.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https://chartmogul.com/blog/freemium-business-model/</a:t>
            </a:r>
          </a:p>
          <a:p xmlns:a="http://schemas.openxmlformats.org/drawingml/2006/main">
            <a:r>
              <a:t>- https://openviewpartners.com/blog/your-guide-to-product-led-growth-benchmarks/</a:t>
            </a:r>
          </a:p>
          <a:p xmlns:a="http://schemas.openxmlformats.org/drawingml/2006/main">
            <a:r>
              <a:t>- Internal: OpenStudio Year 1 funnel is a management projection.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https://suno.com/pricing</a:t>
            </a:r>
          </a:p>
          <a:p xmlns:a="http://schemas.openxmlformats.org/drawingml/2006/main">
            <a:r>
              <a:t>- https://help.udio.com/en/articles/10739199-changing-or-canceling-your-subscription</a:t>
            </a:r>
          </a:p>
          <a:p xmlns:a="http://schemas.openxmlformats.org/drawingml/2006/main">
            <a:r>
              <a:t>- https://help.bandlab.com/hc/en-us/articles/20758981227033-BandLab-Membership-FAQ</a:t>
            </a:r>
          </a:p>
          <a:p xmlns:a="http://schemas.openxmlformats.org/drawingml/2006/main">
            <a:r>
              <a:t>- https://elevenlabs.io/pricing/api</a:t>
            </a:r>
          </a:p>
          <a:p xmlns:a="http://schemas.openxmlformats.org/drawingml/2006/main">
            <a:r>
              <a:t>- https://soundraw.io/api</a:t>
            </a:r>
          </a:p>
          <a:p xmlns:a="http://schemas.openxmlformats.org/drawingml/2006/main">
            <a:r>
              <a:t>- Internal: OpenStudio prices are recommended launch tests, not current revenue or finalized pricing.</a:t>
            </a:r>
          </a:p>
          <a:p xmlns:a="http://schemas.openxmlformats.org/drawingml/2006/main">
            <a:r>
              <a:t>- Internal: Commercialization assumes a compliant dual-license and/or separately architected proprietary service/plugin layer; legal review is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https://www.grandviewresearch.com/industry-analysis/digital-audio-workstation-market-report</a:t>
            </a:r>
          </a:p>
          <a:p xmlns:a="http://schemas.openxmlformats.org/drawingml/2006/main">
            <a:r>
              <a:t>- https://chartmogul.com/blog/freemium-business-model/</a:t>
            </a:r>
          </a:p>
          <a:p xmlns:a="http://schemas.openxmlformats.org/drawingml/2006/main">
            <a:r>
              <a:t>- https://openviewpartners.com/blog/your-guide-to-product-led-growth-benchmarks/</a:t>
            </a:r>
          </a:p>
          <a:p xmlns:a="http://schemas.openxmlformats.org/drawingml/2006/main">
            <a:r>
              <a:t>- https://www.fexant.com/bank/RBI</a:t>
            </a:r>
          </a:p>
          <a:p xmlns:a="http://schemas.openxmlformats.org/drawingml/2006/main">
            <a:r>
              <a:t>- Internal: All OpenStudio figures are management projections. Year 1 = months 1–12 after commercial launch; Year 3 = months 25–36.</a:t>
            </a:r>
          </a:p>
          <a:p xmlns:a="http://schemas.openxmlformats.org/drawingml/2006/main">
            <a:r>
              <a:t>- Internal: FX planning assumption: ₹96/US$. Revenue excludes GST/VAT.</a:t>
            </a:r>
          </a:p>
          <a:p xmlns:a="http://schemas.openxmlformats.org/drawingml/2006/main">
            <a:r>
              <a:t>- Internal: Base-case Year 1: $351k revenue, -$388.5k EBITDA. Year 3: $4.404M revenue, +$474.7k EBITDA.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Roadmap, timing and allocation are proposed management plans and should be revised during fundraising diligence.</a:t>
            </a:r>
          </a:p>
          <a:p xmlns:a="http://schemas.openxmlformats.org/drawingml/2006/main">
            <a:r>
              <a:t>- Internal: The current codebase is AGPLv3-compatible; paid services/plugins require a deliberate licensing and architecture strategy with counsel.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The $1.5M raise, 24-month runway and Year-3 target are proposed management plans, not commitments.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b4c38f10545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e1750e7d6745a4" /><Relationship Type="http://schemas.openxmlformats.org/officeDocument/2006/relationships/slideLayout" Target="/ppt/slideLayouts/slideLayout1.xml" Id="Rdf5eeca9ad0c48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5eeca9ad0c48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11314dab44e1c" /><Relationship Type="http://schemas.openxmlformats.org/officeDocument/2006/relationships/image" Target="/ppt/media/image.png" Id="R126d6b697a464098" /><Relationship Type="http://schemas.openxmlformats.org/officeDocument/2006/relationships/notesSlide" Target="/ppt/notesSlides/notesSlide1.xml" Id="R8a7130d8a05646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e5b58730b4f62" /><Relationship Type="http://schemas.openxmlformats.org/officeDocument/2006/relationships/notesSlide" Target="/ppt/notesSlides/notesSlide2.xml" Id="R47a04537005948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b7c89f3d2403a" /><Relationship Type="http://schemas.openxmlformats.org/officeDocument/2006/relationships/image" Target="/ppt/media/image2.png" Id="Ra1120f9baedb4f29" /><Relationship Type="http://schemas.openxmlformats.org/officeDocument/2006/relationships/notesSlide" Target="/ppt/notesSlides/notesSlide3.xml" Id="Rae3502ae43b349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8202b0f9f43b8" /><Relationship Type="http://schemas.openxmlformats.org/officeDocument/2006/relationships/image" Target="/ppt/media/image3.png" Id="Rd7ab6cbea5704460" /><Relationship Type="http://schemas.openxmlformats.org/officeDocument/2006/relationships/image" Target="/ppt/media/image4.png" Id="Rded520d0184249fc" /><Relationship Type="http://schemas.openxmlformats.org/officeDocument/2006/relationships/notesSlide" Target="/ppt/notesSlides/notesSlide4.xml" Id="Ra99220c9c67c4e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189bb661b4ce6" /><Relationship Type="http://schemas.openxmlformats.org/officeDocument/2006/relationships/notesSlide" Target="/ppt/notesSlides/notesSlide5.xml" Id="R97b7dd63a73648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96f3ae2e74ab4" /><Relationship Type="http://schemas.openxmlformats.org/officeDocument/2006/relationships/notesSlide" Target="/ppt/notesSlides/notesSlide6.xml" Id="R9fa31b9a4a5647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d8562138742a9" /><Relationship Type="http://schemas.openxmlformats.org/officeDocument/2006/relationships/chart" Target="/ppt/slides/charts/chart1.xml" Id="Rc27dad0b96704404" /><Relationship Type="http://schemas.openxmlformats.org/officeDocument/2006/relationships/notesSlide" Target="/ppt/notesSlides/notesSlide7.xml" Id="Raa41b2eacf664f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b72d728844dab" /><Relationship Type="http://schemas.openxmlformats.org/officeDocument/2006/relationships/notesSlide" Target="/ppt/notesSlides/notesSlide8.xml" Id="R4e29b20be3f849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33ba2390d4cc1" /><Relationship Type="http://schemas.openxmlformats.org/officeDocument/2006/relationships/notesSlide" Target="/ppt/notesSlides/notesSlide9.xml" Id="Rd3a545678f0041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f113738564a75" /><Relationship Type="http://schemas.openxmlformats.org/officeDocument/2006/relationships/notesSlide" Target="/ppt/notesSlides/notesSlide10.xml" Id="R088a87ef798c46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6886f8eef4315" /><Relationship Type="http://schemas.openxmlformats.org/officeDocument/2006/relationships/chart" Target="/ppt/slides/charts/chart2.xml" Id="Rf39eca9de41f43ba" /><Relationship Type="http://schemas.openxmlformats.org/officeDocument/2006/relationships/notesSlide" Target="/ppt/notesSlides/notesSlide11.xml" Id="R8202c568599e4f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8624786f94009" /><Relationship Type="http://schemas.openxmlformats.org/officeDocument/2006/relationships/notesSlide" Target="/ppt/notesSlides/notesSlide12.xml" Id="R45f2f9a5094d48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4bbfdbee545ff" /><Relationship Type="http://schemas.openxmlformats.org/officeDocument/2006/relationships/notesSlide" Target="/ppt/notesSlides/notesSlide13.xml" Id="Rc83128487e1e44f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of mentions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Pro Tools</c:v>
              </c:pt>
              <c:pt idx="1">
                <c:v>Steinberg*</c:v>
              </c:pt>
              <c:pt idx="2">
                <c:v>Studio 1</c:v>
              </c:pt>
              <c:pt idx="3">
                <c:v>REAPER</c:v>
              </c:pt>
              <c:pt idx="4">
                <c:v>Ableton</c:v>
              </c:pt>
            </c:strLit>
          </c:cat>
          <c:val>
            <c:numLit>
              <c:formatCode>General</c:formatCode>
              <c:ptCount val="5"/>
              <c:pt idx="0">
                <c:v>37.2</c:v>
              </c:pt>
              <c:pt idx="1">
                <c:v>9.7</c:v>
              </c:pt>
              <c:pt idx="2">
                <c:v>8.4</c:v>
              </c:pt>
              <c:pt idx="3">
                <c:v>7.4</c:v>
              </c:pt>
              <c:pt idx="4">
                <c:v>5.9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Subscriptions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Year 1</c:v>
              </c:pt>
              <c:pt idx="1">
                <c:v>Year 3</c:v>
              </c:pt>
            </c:strLit>
          </c:cat>
          <c:val>
            <c:numLit>
              <c:formatCode>General</c:formatCode>
              <c:ptCount val="2"/>
              <c:pt idx="0">
                <c:v>0.227</c:v>
              </c:pt>
              <c:pt idx="1">
                <c:v>2.4</c:v>
              </c:pt>
            </c:numLit>
          </c:val>
        </c:ser>
        <c:ser>
          <c:idx val="1"/>
          <c:order val="1"/>
          <c:tx>
            <c:v>Premium plugins</c:v>
          </c:tx>
          <c:spPr>
            <a:solidFill xmlns:a="http://schemas.openxmlformats.org/drawingml/2006/main">
              <a:srgbClr val="06B6D4"/>
            </a:solidFill>
          </c:spPr>
          <c:cat>
            <c:strLit>
              <c:ptCount val="2"/>
              <c:pt idx="0">
                <c:v>Year 1</c:v>
              </c:pt>
              <c:pt idx="1">
                <c:v>Year 3</c:v>
              </c:pt>
            </c:strLit>
          </c:cat>
          <c:val>
            <c:numLit>
              <c:formatCode>General</c:formatCode>
              <c:ptCount val="2"/>
              <c:pt idx="0">
                <c:v>0.088</c:v>
              </c:pt>
              <c:pt idx="1">
                <c:v>1.104</c:v>
              </c:pt>
            </c:numLit>
          </c:val>
        </c:ser>
        <c:ser>
          <c:idx val="2"/>
          <c:order val="2"/>
          <c:tx>
            <c:v>Cloud API</c:v>
          </c:tx>
          <c:spPr>
            <a:solidFill xmlns:a="http://schemas.openxmlformats.org/drawingml/2006/main">
              <a:srgbClr val="059669"/>
            </a:solidFill>
          </c:spPr>
          <c:cat>
            <c:strLit>
              <c:ptCount val="2"/>
              <c:pt idx="0">
                <c:v>Year 1</c:v>
              </c:pt>
              <c:pt idx="1">
                <c:v>Year 3</c:v>
              </c:pt>
            </c:strLit>
          </c:cat>
          <c:val>
            <c:numLit>
              <c:formatCode>General</c:formatCode>
              <c:ptCount val="2"/>
              <c:pt idx="0">
                <c:v>0.036</c:v>
              </c:pt>
              <c:pt idx="1">
                <c:v>0.9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B2091-51CC-43D8-B50B-F336F51A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OPENSTUDIO  /  SEED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DA7B7-FA7D-4F68-A963-D5F8230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76400"/>
            <a:ext cx="938212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Free studio.</a:t>
            </a:r>
          </a:p>
          <a:p xmlns:a="http://schemas.openxmlformats.org/drawingml/2006/main">
            <a:pPr algn="l">
              <a:defRPr sz="61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Premium intelligence.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35B52-B984-4B55-983D-5B0D140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006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 local-first DAW that acquires creators with real utility—then monetizes AI, cloud APIs and premium plugins.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45CC4-7A83-47D9-B127-C104B7FF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5720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d6b697a464098"/>
          <a:stretch xmlns:a="http://schemas.openxmlformats.org/drawingml/2006/main"/>
        </p:blipFill>
        <p:spPr>
          <a:xfrm xmlns:a="http://schemas.openxmlformats.org/drawingml/2006/main">
            <a:off x="10210800" y="457200"/>
            <a:ext cx="1257300" cy="12573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E38BB-3E7B-4ACE-B69E-4E232E54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14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2386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 2 title">
            <a:extLst xmlns:a="http://schemas.openxmlformats.org/drawingml/2006/main">
              <a:ext uri="{FF2B5EF4-FFF2-40B4-BE49-F238E27FC236}">
                <a16:creationId xmlns:a16="http://schemas.microsoft.com/office/drawing/2014/main" id="{D78E263C-231F-4F3F-92DD-7C224AB2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5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Music creation has split into two incomplete 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4E085-25C8-4E81-908E-BC1D0792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3A07F-57AE-4933-9EFA-98D05110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LEGACY DAWs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562CD-7C6D-40CA-A426-4621542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05025"/>
            <a:ext cx="4953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Professional control.</a:t>
            </a:r>
          </a:p>
          <a:p xmlns:a="http://schemas.openxmlformats.org/drawingml/2006/main">
            <a:pPr algn="l"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High cost and fragmented add-ons.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606B7-EB7D-43C5-8BEA-6FEFC573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338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Pitch, virtual guitar rigs and specialized creation tools often sit behind paid editions or separate purchases.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086475" y="161925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E8672-CBAE-4EE8-A604-9FF857AF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19250"/>
            <a:ext cx="14288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CF115-4899-41B7-B0CE-0BA51900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AI GENERATORS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89770-3A41-4F8C-8B8E-FCDBB483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05025"/>
            <a:ext cx="4953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Instant ideation.</a:t>
            </a:r>
          </a:p>
          <a:p xmlns:a="http://schemas.openxmlformats.org/drawingml/2006/main">
            <a:pPr algn="l"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Shallow production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FF7ED-157A-4FF3-9937-FAC0F889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Generation is fast, but recording, deep editing, plugins and finishing still move into another toolchain.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7569F-7248-4665-90E5-920DC05F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91150"/>
            <a:ext cx="114014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E5E31-B347-4EEC-8846-EEBF7AE1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GAP  —  one creation-to-production workflow, useful before the paywall.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BCACC-A7DA-4310-84B1-706E43B4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C4B57-0CA6-4C4F-B806-0AB9ABF7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3997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0F761-BC7B-4CA9-86B7-4E273F35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5572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7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The core studio already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CC526-AAB6-4C5F-AB52-3CBB9AC4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66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WORKING DEVELOPMENT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36EC3-DEAC-4AE0-8F69-3A3E5CCD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4787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Record. Edit. Mix. Master.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E8E27-D03D-4B43-9B05-6BAF33E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76575"/>
            <a:ext cx="53911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JUCE audio engine + React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• Multitrack recording and mixing</a:t>
            </a:r>
          </a:p>
          <a:p xmlns:a="http://schemas.openxmlformats.org/drawingml/2006/main">
            <a:pPr algn="l"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• MIDI editor and graphical pitch pipeline</a:t>
            </a:r>
          </a:p>
          <a:p xmlns:a="http://schemas.openxmlformats.org/drawingml/2006/main">
            <a:pPr algn="l"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• VST3 / CLAP / LV2 hosting</a:t>
            </a:r>
          </a:p>
          <a:p xmlns:a="http://schemas.openxmlformats.org/drawingml/2006/main">
            <a:pPr algn="l"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• AI generation and source variation</a:t>
            </a:r>
          </a:p>
          <a:p xmlns:a="http://schemas.openxmlformats.org/drawingml/2006/main">
            <a:pPr algn="l"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• NAM guitar rig with pedals, cab, EQ and post FX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7335B-1CA6-4505-AF82-F3FDF3B1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1438275"/>
            <a:ext cx="553974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20f9baedb4f29"/>
          <a:srcRect xmlns:a="http://schemas.openxmlformats.org/drawingml/2006/main" l="0" t="23" r="0" b="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1438275"/>
            <a:ext cx="5539740" cy="3114675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E800A-C9E6-47C3-902D-83532748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4762500"/>
            <a:ext cx="172974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385A5-F2D1-4D27-8B70-8E188140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519" y="4905375"/>
            <a:ext cx="138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97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CA56C-5AF2-46EF-88C8-2487BBBE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519" y="5400675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C++ source / header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29678-A2B2-4F2A-81CC-DC95AC75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681" y="4762500"/>
            <a:ext cx="172974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B4FB7-5226-43E0-B9D7-8852BFD5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131" y="4905375"/>
            <a:ext cx="138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286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5894D-77B8-4CB1-BD31-64D3F5D0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131" y="5400675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TypeScript / TSX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BEBC1-5678-48BC-AA5C-E536B7CA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4762500"/>
            <a:ext cx="172974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39FF6-6874-4926-AE17-A64762EF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648" y="4905375"/>
            <a:ext cx="138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374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E11E1-957B-4FE6-8951-AC60D905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648" y="5400675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Native bridge registrations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44182-854D-4D70-8B3D-A2565327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34604-672E-450F-A92A-794D5852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8930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4 title">
            <a:extLst xmlns:a="http://schemas.openxmlformats.org/drawingml/2006/main">
              <a:ext uri="{FF2B5EF4-FFF2-40B4-BE49-F238E27FC236}">
                <a16:creationId xmlns:a16="http://schemas.microsoft.com/office/drawing/2014/main" id="{94F50B69-D0A2-4C76-AD11-B9F0031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The acquisition wedge is a $0 first-year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A24FA-B4D1-497C-B50B-CA190728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4A933-86F6-41D9-94A0-89928733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61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$0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061A4-7830-40E2-9BDD-048C9D47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66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OpenStudio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400A1-ED69-45F8-B6E9-7294080D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811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vs.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DB800-C4AF-449D-AF6D-13F852F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23975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~$604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D2844-7CFE-4342-84C8-F3D93B85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illustrative first-year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DA7B2-E603-46C9-A441-DBAC4080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240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REAPER + Melodyne Assistant + Guitar Rig Pro + 1 year Suno Pro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E30E7-DB4C-4DF5-94C2-7DA5AB74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List-price illustration only; not feature or quality equivalence.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44E9B-943F-4812-B1D9-CAA73A84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05150"/>
            <a:ext cx="5536883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b6cbea5704460"/>
          <a:srcRect xmlns:a="http://schemas.openxmlformats.org/drawingml/2006/main" l="0" t="7366" r="0" b="7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3105150"/>
            <a:ext cx="5536883" cy="3114675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9CAC0-5BD5-4484-A203-4032977D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105150"/>
            <a:ext cx="553974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520d0184249fc"/>
          <a:srcRect xmlns:a="http://schemas.openxmlformats.org/drawingml/2006/main" l="3312" t="0" r="33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105150"/>
            <a:ext cx="5539740" cy="3114675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C1E60-9012-446F-8217-F3FF12F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575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3810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 CREATE / VARIATION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BB282-5B91-4AAD-B1FD-67006DD5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3810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 GUITAR RIG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BAECF-7B06-4DAB-AAC1-50A031FE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4D792-ECB2-4419-B2FD-F5EE2EBD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5667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5 title">
            <a:extLst xmlns:a="http://schemas.openxmlformats.org/drawingml/2006/main">
              <a:ext uri="{FF2B5EF4-FFF2-40B4-BE49-F238E27FC236}">
                <a16:creationId xmlns:a16="http://schemas.microsoft.com/office/drawing/2014/main" id="{B5F9DFF5-3B9F-4FA5-8ACD-D85D3E45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OpenStudio wins on breadth before the paywall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EFC06-BF90-4430-B769-D8F7F0EB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Competitors offer depth in parts; OpenStudio bundles the creation-to-production workflow for free.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6AB06-AD87-4D73-8E7A-79A36C45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393668" y="1724025"/>
          <a:ext xmlns:a="http://schemas.openxmlformats.org/drawingml/2006/main" cx="11404568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571625"/>
                <a:gridCol w="1485900"/>
                <a:gridCol w="1485900"/>
                <a:gridCol w="1428750"/>
                <a:gridCol w="1524000"/>
                <a:gridCol w="1524000"/>
              </a:tblGrid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CAPABILITY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OPENSTUDIO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CUBASE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 TOOLS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REAPER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SUNO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UDIO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/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DAW + recording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FREE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/ 8 tracks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60-day 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Browser Studio / paid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/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MIDI note editing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FREE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/ limited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in eval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Export only / Premier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/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Graphical pitch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FREE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VariAudio / paid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Melodyne separate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 ReaTune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 Studio tools / paid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/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 music generation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/ OPTIONAL*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/ credit-limited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/ credit-limited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/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Integrated guitar rig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FREE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Paid suite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 amps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Plugins separate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/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VST3 / CLAP / LV2 hosting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FREE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VST3 / paid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AAX / paid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in eval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/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31F7D-A6E7-4244-B411-56C98CB0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36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* Current development scope. “Included” describes access, not parity with every specialist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1D652-0A00-4EB2-AECC-8C55F777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99DC2-9C16-4378-98D3-F06E861C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27685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6 title">
            <a:extLst xmlns:a="http://schemas.openxmlformats.org/drawingml/2006/main">
              <a:ext uri="{FF2B5EF4-FFF2-40B4-BE49-F238E27FC236}">
                <a16:creationId xmlns:a16="http://schemas.microsoft.com/office/drawing/2014/main" id="{8BA1E9FE-FACB-4A8D-AD8D-06B0252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Three tailwinds meet in one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BE3BB-4A0C-416A-B8A7-54B72947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CB452-2568-4478-A3EF-1605929D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OpenStudio sits at the intersection—not the sum—of established DAW spend, high-growth music AI and India’s expanding creator base.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EBF47-5AB5-489F-8DD8-1F3C5D6F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BB72B-B2BC-40F7-B5F8-790760BC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85932-C2C3-446E-854C-E4EEAA75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$4.4B → $8.9B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D974E-5C1D-421E-9640-604269DC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Global DAW market</a:t>
            </a:r>
          </a:p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2025 → 2033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BF663-B09D-4469-BBF3-B3666670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02DF7-7431-4210-8180-6730353F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8CA53-AAFA-4159-821C-B46E795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$0.96B → $2.79B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86A05-A776-440B-B8DB-37776DF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Generative AI in music</a:t>
            </a:r>
          </a:p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2026 → 2030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14CBC-D39F-47CF-8904-2500B088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1AE48-8451-4A9F-B691-DBFB71B7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980C2-9312-4363-819C-BE687812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4.12M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3527E-75F3-485B-9344-10A1BCB2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Indian creators in 2025</a:t>
            </a:r>
          </a:p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66% outside metros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AC810-E35F-4601-B479-1B3EF31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B409B-2049-4119-A30C-E362D320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734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7 title">
            <a:extLst xmlns:a="http://schemas.openxmlformats.org/drawingml/2006/main">
              <a:ext uri="{FF2B5EF4-FFF2-40B4-BE49-F238E27FC236}">
                <a16:creationId xmlns:a16="http://schemas.microsoft.com/office/drawing/2014/main" id="{1A5EFC5C-97A4-46B5-982A-E6996393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Incumbent adoption validates willingness to 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963EA-408E-474C-9E7D-5E37C1F6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6D6D5-179E-4A9F-8035-BDE61CF8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04900"/>
            <a:ext cx="5526405" cy="5095875"/>
          </a:xfrm>
          <a:prstGeom xmlns:a="http://schemas.openxmlformats.org/drawingml/2006/main" prst="roundRect">
            <a:avLst>
              <a:gd name="adj" fmla="val 14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70B1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31BC2-8A1A-469F-96B3-66D2BCFA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Share of DAW mentions in a 2025 professional-user survey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4905375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7dad0b9670440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438E8-7DAC-409B-9C77-5C93C09C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Survey is self-selected, multi-answer and pro/post-skewed—not global market share. *Cubase + Nuendo.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BBBFF-9D2B-433B-BEA3-0EB68C11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5286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The signal is economic, not just technical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8EC19-D53E-4EFB-A4E3-1ED1BB0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5286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Creators already pay for production workflows and AI output. OpenStudio’s opportunity is to enter earlier—with a useful free core.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21ABC-1A1F-4EE2-B33A-FCF63B0A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3" y="3714750"/>
            <a:ext cx="25812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7868F-D490-42B4-A916-44155DE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95725"/>
            <a:ext cx="21431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2M paid</a:t>
            </a:r>
          </a:p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$300M ARR</a:t>
            </a:r>
          </a:p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$5.4B 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5AB60-3609-4B1F-BFC3-BB4D887D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197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Suno · company / CEO-reported</a:t>
            </a:r>
          </a:p>
          <a:p xmlns:a="http://schemas.openxmlformats.org/drawingml/2006/main">
            <a:pPr algn="l">
              <a:defRPr sz="12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Profit not disclosed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45895-B6DC-48EB-AC55-771C6ED5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010" y="3714750"/>
            <a:ext cx="25812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6A4EA-F1AE-4E10-8C3F-4493EEE7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000500"/>
            <a:ext cx="2143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$417M revenue</a:t>
            </a:r>
          </a:p>
          <a:p xmlns:a="http://schemas.openxmlformats.org/drawingml/2006/main">
            <a:pPr algn="l">
              <a:def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$55M net income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EFD91-D55C-48BD-93E1-6B602490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124450"/>
            <a:ext cx="214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Avid FY2022 · all products</a:t>
            </a:r>
          </a:p>
          <a:p xmlns:a="http://schemas.openxmlformats.org/drawingml/2006/main">
            <a:pPr algn="l">
              <a:def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2023 take-private: ~$1.4B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DF36E-227F-4F0A-9440-2F471DA1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057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621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Udio: $10M seed; revenue / profit not disclosed. Steinberg and Cockos product economics not disclosed.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813E7-8B6F-4D52-AB7E-ECA00DA7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DFA41-D51F-4DE7-ABF3-A5A9D50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33826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8 title">
            <a:extLst xmlns:a="http://schemas.openxmlformats.org/drawingml/2006/main">
              <a:ext uri="{FF2B5EF4-FFF2-40B4-BE49-F238E27FC236}">
                <a16:creationId xmlns:a16="http://schemas.microsoft.com/office/drawing/2014/main" id="{9D920717-FE04-48FD-A78A-4A07D86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Indian Classical is a model gap—not a genre filter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819AF-78CE-458F-92C7-38550EE2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082C9-4488-4996-B3E9-E4868416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General-purpose music AI underrepresents the structures that matter: raga, tala, shruti, improvisation and ornamentation.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86CE2-1695-4631-A9D7-BB5C1950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3B1DE-7B67-42C5-BDA7-69A7C3CD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515D3-5702-467D-9AB0-DD01D228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86%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C18BE-E9FD-4898-94D2-B495B73C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Analyzed dataset hours</a:t>
            </a:r>
          </a:p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focused on the Global North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FCEFC-A4FC-4670-8EAE-CE7EB002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F273F-1CE4-4909-8F75-438B888C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4A188-54DA-4C57-98F3-D98148F3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~5%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4D47F-6F56-4EDD-808E-2C0B920F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South Asian representation</a:t>
            </a:r>
          </a:p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across analyzed music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599C5-6842-4441-8536-C9D1E647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C831A-230B-4C0C-ABB2-4350E38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122C8-CDB9-4BD4-95E6-8A06E2BB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62D29-62AF-4D5E-913D-3350ADA2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Best stylistic fidelity in a</a:t>
            </a:r>
          </a:p>
          <a:p xmlns:a="http://schemas.openxmlformats.org/drawingml/2006/main">
            <a:pPr algn="l"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2026 South Asian benchmark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DCFBC-11A5-47B1-B013-0444C9FD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Licensed / opt-in performances  →  raga + tala + ornament-aware models  →  premium creator tools +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DE638-FDEC-4497-A02B-9C033E40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A8D3D-2722-44AF-AFE2-8FEC8B7A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981145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9 title">
            <a:extLst xmlns:a="http://schemas.openxmlformats.org/drawingml/2006/main">
              <a:ext uri="{FF2B5EF4-FFF2-40B4-BE49-F238E27FC236}">
                <a16:creationId xmlns:a16="http://schemas.microsoft.com/office/drawing/2014/main" id="{168CA730-D4BC-4D1F-8DFB-A3CC450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Free acquisition creates paid conversion moments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D397A-2FEE-4494-9C21-1B2C68E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337757" y="3373755"/>
            <a:ext cx="11458575" cy="95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70B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7F9A9-2EB3-4A1E-871F-618D97E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18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5E3BA-EB76-4B24-B41F-61891220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  ACQUIRE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FE3B3-401D-47A7-A16B-D5D3B6A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A genuinely useful free studio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Creator colleges · guitar communities · regional-language educators · open-source 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4BC24-F60F-496B-9C38-AE88A0A5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32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E72F5-FBA2-426C-803E-1627C252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  ACTIVATE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E2B30-741F-4130-9A14-A1CE15C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First-session success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Record or import · create a variation · edit pitch / MIDI · shape a guitar tone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6A952-7839-47B6-B6E7-4C1F783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117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B7AFA-3918-4A45-A176-EC7A23B4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03  CONVERT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0C967-2245-436F-8F96-5A864DE8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Pay at the value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Commercial AI · more compute · cloud collaboration · API access · premium plugins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CC456-D4F6-48C9-A87F-10C92E3A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91200"/>
            <a:ext cx="11401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D6304-D3F6-4F97-9789-F388E371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YEAR 1 BASE FUNNEL  —  180k registrations  ·  60k average MAU  ·  3.5% paid conversion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4A4C7-1CED-46DF-B050-5A6B6AED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7862B-D35F-42D9-AAAC-C770AF41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1811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 10 title">
            <a:extLst xmlns:a="http://schemas.openxmlformats.org/drawingml/2006/main">
              <a:ext uri="{FF2B5EF4-FFF2-40B4-BE49-F238E27FC236}">
                <a16:creationId xmlns:a16="http://schemas.microsoft.com/office/drawing/2014/main" id="{95060EAF-71D0-48C4-B089-70E6E99B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945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Charge for compute and commercial leverage—not the core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B6557-4464-4ACD-8A6F-DEB796A4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BA540-59A7-447D-86AC-5113B4E0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09750"/>
            <a:ext cx="3568732" cy="40386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C3638-D5F4-4E75-8415-933F35DC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20955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OPENSTUDIO FREE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9A33F-F393-4DDC-B5AD-9EA2EEFF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2619375"/>
            <a:ext cx="30099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DAW + recording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MIDI + pitch editor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NAM guitar rig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Plugin hosting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Limited cloud 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1E6AA-401B-437C-99E6-F2D152DA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46577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Full local 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75C64-E137-4601-B69A-F076D45D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5143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F229F-E252-4DC3-BB8E-7BDB8C8E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68732" cy="40386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78D33-0E0F-42BF-AEAF-B64CDE34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CREATOR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70FAE-1068-4399-9C58-5142F1B5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30099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Commercial AI credits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Higher-quality generation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Stem separation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Indian-model packs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$90 annual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5466D-0ADB-4325-8264-E3337BB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577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₹499 / mo India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B80BB-9953-40FB-8969-489F81E2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$9 / 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598D1-75F9-4A89-A60D-0109F9E4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32" y="1809750"/>
            <a:ext cx="3568732" cy="40386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9F9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04B8A-B5F9-44FC-8FA2-7ADE5FBA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32" y="20955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PRO AI +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52B34-29CF-4121-B6D0-9D8B5240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32" y="2619375"/>
            <a:ext cx="30099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More compute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Private projects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Batch + cloud workflows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API priority</a:t>
            </a:r>
          </a:p>
          <a:p xmlns:a="http://schemas.openxmlformats.org/drawingml/2006/main">
            <a:pPr algn="l"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$190 annual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71544-DD9D-475A-9291-E7501F75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32" y="46577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₹999 / mo India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09BE0-528F-4DDC-B29E-0D7934C8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32" y="5143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$19 / 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B36B6-349C-4639-8ECC-73FC118D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10275"/>
            <a:ext cx="11401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ADDITIONAL ARPU  —  $39–$99 premium plugins  ·  API from $49 / month + metered usage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2E39E-F45B-4100-94EC-0B23C7B8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F52FA-200A-40AA-9816-99ACF0B0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9524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11 title">
            <a:extLst xmlns:a="http://schemas.openxmlformats.org/drawingml/2006/main">
              <a:ext uri="{FF2B5EF4-FFF2-40B4-BE49-F238E27FC236}">
                <a16:creationId xmlns:a16="http://schemas.microsoft.com/office/drawing/2014/main" id="{CD26605E-9C9D-4738-AF7D-631C94B2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A small share can support a real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6C0EA-32B5-47C0-AD63-34AFFEE3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63B64-58C1-4671-8F56-5019A46D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66800"/>
            <a:ext cx="5526405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70B1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80D53-DF8E-462B-83A9-4C7086A7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Base-case revenue mix ($M)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47700" y="1676400"/>
          <a:ext xmlns:a="http://schemas.openxmlformats.org/drawingml/2006/main" cx="4953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9eca9de41f43b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DA0C4-57A5-49F7-861A-14567AC4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668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Base assumptions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B86C8-EDC2-4796-B617-05F2679B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Average MAU  60k → 400k</a:t>
            </a:r>
          </a:p>
          <a:p xmlns:a="http://schemas.openxmlformats.org/drawingml/2006/main">
            <a:pPr algn="l"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Paid conversion  3.5% → 5.0%</a:t>
            </a:r>
          </a:p>
          <a:p xmlns:a="http://schemas.openxmlformats.org/drawingml/2006/main">
            <a:pPr algn="l"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Blended paid ARPU  $9 → $10 / month</a:t>
            </a:r>
          </a:p>
          <a:p xmlns:a="http://schemas.openxmlformats.org/drawingml/2006/main">
            <a:pPr algn="l"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Gross margin  74.5% → 77.8%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9621F-9107-4D1F-AE45-4AC7E568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3" y="3695700"/>
            <a:ext cx="25812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77054-4C85-49D5-8160-6E948D33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981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$0.35M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DB03D-6DD4-45DC-8FD3-21418763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95825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YEAR 1 REVENUE</a:t>
            </a:r>
          </a:p>
          <a:p xmlns:a="http://schemas.openxmlformats.org/drawingml/2006/main">
            <a:pPr algn="l"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−$0.39M EBITDA</a:t>
            </a:r>
          </a:p>
          <a:p xmlns:a="http://schemas.openxmlformats.org/drawingml/2006/main">
            <a:pPr algn="l"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Investment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3A814-B2F2-4F44-AD96-BBFBBF44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010" y="3695700"/>
            <a:ext cx="25812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9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AF785-AD62-432E-9231-A16CC7F0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981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$4.40M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ED2FA-1F47-4687-ABED-F550F684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695825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YEAR 3 REVENUE</a:t>
            </a:r>
          </a:p>
          <a:p xmlns:a="http://schemas.openxmlformats.org/drawingml/2006/main">
            <a:pPr algn="l"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+$0.47M EBITDA</a:t>
            </a:r>
          </a:p>
          <a:p xmlns:a="http://schemas.openxmlformats.org/drawingml/2006/main">
            <a:pPr algn="l"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10.8% margin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8EC2F-59BB-456F-B252-3AF8352C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7695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Year 3 base revenue is ~0.1% of the broader 2025 DAW market estimate.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2B42A-AA82-4932-B360-B4ADD4F2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41CC7-2864-432F-B299-16AC178F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99554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12 title">
            <a:extLst xmlns:a="http://schemas.openxmlformats.org/drawingml/2006/main">
              <a:ext uri="{FF2B5EF4-FFF2-40B4-BE49-F238E27FC236}">
                <a16:creationId xmlns:a16="http://schemas.microsoft.com/office/drawing/2014/main" id="{D90EA42D-0083-4FCE-8296-8CE318EA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24 months turns the free wedge into a paid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0FAED-B17D-4796-BAB3-15BBC5E0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337757" y="3373755"/>
            <a:ext cx="11458575" cy="95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70B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DF445-369A-4DD7-B534-215FCB4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18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876D5-FA68-4BE5-98C4-3F17010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0–6 MONTHS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06569-68E0-4642-8795-13760154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Stabilize + launch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Installers · onboarding · audio QA · licensing / service boundary · consented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90EB8-F044-47BB-ACB8-B8ACDC1E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32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F98FC-756E-46BC-A977-B4CF38B7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6–12 MONTHS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2E9C9-AB3A-46E3-B5C1-6E34A7B2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Monetize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Paid AI tiers · credit metering · commercial rights · plugin store · creator community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A94E0-B5DE-44CC-8DF0-4B3DF857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117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18956-8495-41B7-AB88-1794EE48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12–24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94876-D688-4266-A60C-9CCABA28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Defend + scale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Licensed Indian corpus · raga / tala models · cloud API · enterprise pilots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8D8AD-5A14-46A9-8C2D-C6E86761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81675"/>
            <a:ext cx="114014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F99F1-7ABD-4CC1-AB6D-3A10307A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95975"/>
            <a:ext cx="11001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 OF FUNDS   40% ML + DATA   ·   30% PRODUCT   ·   20% GTM   ·   10% CLOUD / LEGAL / 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96AA0-B1AD-4F55-9179-B3F41CA0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01765-17D4-47B2-9728-11E71E87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43811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89478-144C-40DC-A8C8-11561DDE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OPENSTUDIO  /  PROPOSED 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B3622-0790-4D5F-B516-99A8F2BD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43075"/>
            <a:ext cx="9525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Raising $1.5M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EAF60-F8BE-4353-88E1-AEF97813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958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24 months to launch paid AI, build the Indian-Classical model moat, and pursue a $4.4M Year-3 base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26A55-0265-4512-AFC8-143F8C96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102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openstudio.org.in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9A6B5-4220-40C3-BFD1-30FD5BC8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14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2899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2026-07-27T20:43:35.1520000Z</dcterms:created>
  <dcterms:modified xsi:type="dcterms:W3CDTF">2026-07-27T20:43:35.1520000Z</dcterms:modified>
</coreProperties>
</file>